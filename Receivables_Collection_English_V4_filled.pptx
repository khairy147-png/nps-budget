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 id="259" r:id="rId10"/>
    <p:sldId id="260"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3847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305" y="0"/>
            <a:ext cx="12191695" cy="6858000"/>
          </a:xfrm>
          <a:prstGeom prst="rect">
            <a:avLst/>
          </a:prstGeom>
          <a:solidFill>
            <a:schemeClr val="bg1">
              <a:lumMod val="75000"/>
            </a:schemeClr>
          </a:solidFill>
          <a:ln/>
        </p:spPr>
        <p:txBody>
          <a:bodyPr/>
          <a:lstStyle/>
          <a:p>
            <a:endParaRPr lang="en-AE" dirty="0"/>
          </a:p>
        </p:txBody>
      </p:sp>
      <p:sp>
        <p:nvSpPr>
          <p:cNvPr id="3" name="Shape 1"/>
          <p:cNvSpPr/>
          <p:nvPr/>
        </p:nvSpPr>
        <p:spPr>
          <a:xfrm>
            <a:off x="0" y="5029200"/>
            <a:ext cx="12191695" cy="1828800"/>
          </a:xfrm>
          <a:prstGeom prst="rect">
            <a:avLst/>
          </a:prstGeom>
          <a:solidFill>
            <a:schemeClr val="bg1">
              <a:lumMod val="65000"/>
            </a:schemeClr>
          </a:solidFill>
          <a:ln/>
        </p:spPr>
        <p:txBody>
          <a:bodyPr/>
          <a:lstStyle/>
          <a:p>
            <a:endParaRPr lang="en-AE"/>
          </a:p>
        </p:txBody>
      </p:sp>
      <p:sp>
        <p:nvSpPr>
          <p:cNvPr id="4" name="Text 2"/>
          <p:cNvSpPr/>
          <p:nvPr/>
        </p:nvSpPr>
        <p:spPr>
          <a:xfrm>
            <a:off x="822960" y="1417320"/>
            <a:ext cx="10515600" cy="457200"/>
          </a:xfrm>
          <a:prstGeom prst="rect">
            <a:avLst/>
          </a:prstGeom>
          <a:noFill/>
          <a:ln/>
        </p:spPr>
        <p:txBody>
          <a:bodyPr wrap="square" rtlCol="0" anchor="ctr"/>
          <a:lstStyle/>
          <a:p>
            <a:pPr marL="0" indent="0">
              <a:buNone/>
            </a:pPr>
            <a:r>
              <a:rPr lang="en-US" sz="1500" b="1" kern="0" spc="300" dirty="0">
                <a:solidFill>
                  <a:srgbClr val="E6F1F1"/>
                </a:solidFill>
                <a:latin typeface="Calibri" pitchFamily="34" charset="0"/>
                <a:ea typeface="Calibri" pitchFamily="34" charset="-122"/>
                <a:cs typeface="Calibri" pitchFamily="34" charset="-120"/>
              </a:rPr>
              <a:t>RECEIVABLES COLLECTION</a:t>
            </a:r>
            <a:endParaRPr lang="en-US" sz="1500" dirty="0"/>
          </a:p>
        </p:txBody>
      </p:sp>
      <p:sp>
        <p:nvSpPr>
          <p:cNvPr id="5" name="Text 3"/>
          <p:cNvSpPr/>
          <p:nvPr/>
        </p:nvSpPr>
        <p:spPr>
          <a:xfrm>
            <a:off x="822960" y="1874520"/>
            <a:ext cx="10515600" cy="1645920"/>
          </a:xfrm>
          <a:prstGeom prst="rect">
            <a:avLst/>
          </a:prstGeom>
          <a:noFill/>
          <a:ln/>
        </p:spPr>
        <p:txBody>
          <a:bodyPr wrap="square" rtlCol="0" anchor="ctr"/>
          <a:lstStyle/>
          <a:p>
            <a:pPr marL="0" indent="0">
              <a:lnSpc>
                <a:spcPct val="115000"/>
              </a:lnSpc>
              <a:buNone/>
            </a:pPr>
            <a:r>
              <a:rPr lang="en-US" sz="3400" b="1" dirty="0">
                <a:solidFill>
                  <a:srgbClr val="FFFFFF"/>
                </a:solidFill>
                <a:latin typeface="Calibri" pitchFamily="34" charset="0"/>
                <a:ea typeface="Calibri" pitchFamily="34" charset="-122"/>
                <a:cs typeface="Calibri" pitchFamily="34" charset="-120"/>
              </a:rPr>
              <a:t>Collection of Receivables Due to</a:t>
            </a:r>
            <a:endParaRPr lang="en-US" sz="3400" dirty="0"/>
          </a:p>
          <a:p>
            <a:pPr marL="0" indent="0">
              <a:lnSpc>
                <a:spcPct val="115000"/>
              </a:lnSpc>
              <a:buNone/>
            </a:pPr>
            <a:r>
              <a:rPr lang="en-US" sz="3400" b="1" dirty="0">
                <a:solidFill>
                  <a:srgbClr val="FFFFFF"/>
                </a:solidFill>
                <a:latin typeface="Calibri" pitchFamily="34" charset="0"/>
                <a:ea typeface="Calibri" pitchFamily="34" charset="-122"/>
                <a:cs typeface="Calibri" pitchFamily="34" charset="-120"/>
              </a:rPr>
              <a:t>Subsidiaries (NPS &amp; NPM) from External Parties</a:t>
            </a:r>
            <a:endParaRPr lang="en-US" sz="3400" dirty="0"/>
          </a:p>
        </p:txBody>
      </p:sp>
      <p:sp>
        <p:nvSpPr>
          <p:cNvPr id="6" name="Shape 4"/>
          <p:cNvSpPr/>
          <p:nvPr/>
        </p:nvSpPr>
        <p:spPr>
          <a:xfrm>
            <a:off x="822960" y="3703320"/>
            <a:ext cx="1280160" cy="0"/>
          </a:xfrm>
          <a:prstGeom prst="line">
            <a:avLst/>
          </a:prstGeom>
          <a:noFill/>
          <a:ln w="38100">
            <a:solidFill>
              <a:srgbClr val="0F6E6E"/>
            </a:solidFill>
            <a:prstDash val="solid"/>
          </a:ln>
        </p:spPr>
        <p:txBody>
          <a:bodyPr/>
          <a:lstStyle/>
          <a:p>
            <a:endParaRPr lang="en-AE"/>
          </a:p>
        </p:txBody>
      </p:sp>
      <p:sp>
        <p:nvSpPr>
          <p:cNvPr id="7" name="Text 5"/>
          <p:cNvSpPr/>
          <p:nvPr/>
        </p:nvSpPr>
        <p:spPr>
          <a:xfrm>
            <a:off x="822959" y="3977640"/>
            <a:ext cx="11080865" cy="914400"/>
          </a:xfrm>
          <a:prstGeom prst="rect">
            <a:avLst/>
          </a:prstGeom>
          <a:noFill/>
          <a:ln/>
        </p:spPr>
        <p:txBody>
          <a:bodyPr wrap="square" rtlCol="0" anchor="ctr"/>
          <a:lstStyle/>
          <a:p>
            <a:pPr marL="0" indent="0">
              <a:lnSpc>
                <a:spcPct val="130000"/>
              </a:lnSpc>
              <a:buNone/>
            </a:pPr>
            <a:r>
              <a:rPr lang="en-US" sz="1400" b="1" dirty="0">
                <a:solidFill>
                  <a:schemeClr val="bg1"/>
                </a:solidFill>
                <a:latin typeface="Calibri" pitchFamily="34" charset="0"/>
                <a:ea typeface="Calibri" pitchFamily="34" charset="-122"/>
                <a:cs typeface="Calibri" pitchFamily="34" charset="-120"/>
              </a:rPr>
              <a:t>The collection of outstanding receivables due to the subsidiaries from external parties will be monitored through a structured, five-part approach </a:t>
            </a:r>
            <a:endParaRPr lang="en-US" sz="1400" b="1" dirty="0">
              <a:solidFill>
                <a:schemeClr val="bg1"/>
              </a:solidFill>
            </a:endParaRPr>
          </a:p>
        </p:txBody>
      </p:sp>
      <p:sp>
        <p:nvSpPr>
          <p:cNvPr id="8" name="Shape 6"/>
          <p:cNvSpPr/>
          <p:nvPr/>
        </p:nvSpPr>
        <p:spPr>
          <a:xfrm>
            <a:off x="822960" y="5349240"/>
            <a:ext cx="1977481" cy="1143000"/>
          </a:xfrm>
          <a:prstGeom prst="rect">
            <a:avLst/>
          </a:prstGeom>
          <a:solidFill>
            <a:schemeClr val="bg1">
              <a:lumMod val="50000"/>
            </a:schemeClr>
          </a:solidFill>
          <a:ln w="12700">
            <a:solidFill>
              <a:srgbClr val="2C3E5C"/>
            </a:solidFill>
            <a:prstDash val="solid"/>
          </a:ln>
        </p:spPr>
        <p:txBody>
          <a:bodyPr/>
          <a:lstStyle/>
          <a:p>
            <a:endParaRPr lang="en-AE"/>
          </a:p>
        </p:txBody>
      </p:sp>
      <p:sp>
        <p:nvSpPr>
          <p:cNvPr id="9" name="Text 7"/>
          <p:cNvSpPr/>
          <p:nvPr/>
        </p:nvSpPr>
        <p:spPr>
          <a:xfrm>
            <a:off x="932688" y="5458968"/>
            <a:ext cx="1758025" cy="320040"/>
          </a:xfrm>
          <a:prstGeom prst="rect">
            <a:avLst/>
          </a:prstGeom>
          <a:noFill/>
          <a:ln/>
        </p:spPr>
        <p:txBody>
          <a:bodyPr wrap="square" rtlCol="0" anchor="ctr"/>
          <a:lstStyle/>
          <a:p>
            <a:pPr marL="0" indent="0">
              <a:buNone/>
            </a:pPr>
            <a:r>
              <a:rPr lang="en-US" sz="1500" b="1" dirty="0">
                <a:solidFill>
                  <a:srgbClr val="E6F1F1"/>
                </a:solidFill>
                <a:latin typeface="Calibri" pitchFamily="34" charset="0"/>
                <a:ea typeface="Calibri" pitchFamily="34" charset="-122"/>
                <a:cs typeface="Calibri" pitchFamily="34" charset="-120"/>
              </a:rPr>
              <a:t>01</a:t>
            </a:r>
            <a:endParaRPr lang="en-US" sz="1500" dirty="0"/>
          </a:p>
        </p:txBody>
      </p:sp>
      <p:sp>
        <p:nvSpPr>
          <p:cNvPr id="10" name="Text 8"/>
          <p:cNvSpPr/>
          <p:nvPr/>
        </p:nvSpPr>
        <p:spPr>
          <a:xfrm>
            <a:off x="932688" y="5806440"/>
            <a:ext cx="1758025" cy="594360"/>
          </a:xfrm>
          <a:prstGeom prst="rect">
            <a:avLst/>
          </a:prstGeom>
          <a:noFill/>
          <a:ln/>
        </p:spPr>
        <p:txBody>
          <a:bodyPr wrap="square" rtlCol="0" anchor="t"/>
          <a:lstStyle/>
          <a:p>
            <a:pPr marL="0" indent="0">
              <a:lnSpc>
                <a:spcPct val="110000"/>
              </a:lnSpc>
              <a:buNone/>
            </a:pPr>
            <a:r>
              <a:rPr lang="en-US" sz="1050" b="1" dirty="0">
                <a:solidFill>
                  <a:srgbClr val="FFFFFF"/>
                </a:solidFill>
                <a:latin typeface="Calibri" pitchFamily="34" charset="0"/>
                <a:ea typeface="Calibri" pitchFamily="34" charset="-122"/>
                <a:cs typeface="Calibri" pitchFamily="34" charset="-120"/>
              </a:rPr>
              <a:t>Monthly Dashboard</a:t>
            </a:r>
            <a:endParaRPr lang="en-US" sz="1050" dirty="0"/>
          </a:p>
        </p:txBody>
      </p:sp>
      <p:sp>
        <p:nvSpPr>
          <p:cNvPr id="11" name="Shape 9"/>
          <p:cNvSpPr/>
          <p:nvPr/>
        </p:nvSpPr>
        <p:spPr>
          <a:xfrm>
            <a:off x="2965033" y="5349240"/>
            <a:ext cx="1977481" cy="1143000"/>
          </a:xfrm>
          <a:prstGeom prst="rect">
            <a:avLst/>
          </a:prstGeom>
          <a:solidFill>
            <a:schemeClr val="bg1">
              <a:lumMod val="50000"/>
            </a:schemeClr>
          </a:solidFill>
          <a:ln w="12700">
            <a:solidFill>
              <a:srgbClr val="2C3E5C"/>
            </a:solidFill>
            <a:prstDash val="solid"/>
          </a:ln>
        </p:spPr>
        <p:txBody>
          <a:bodyPr/>
          <a:lstStyle/>
          <a:p>
            <a:endParaRPr lang="en-AE"/>
          </a:p>
        </p:txBody>
      </p:sp>
      <p:sp>
        <p:nvSpPr>
          <p:cNvPr id="12" name="Text 10"/>
          <p:cNvSpPr/>
          <p:nvPr/>
        </p:nvSpPr>
        <p:spPr>
          <a:xfrm>
            <a:off x="3074761" y="5458968"/>
            <a:ext cx="1758025" cy="320040"/>
          </a:xfrm>
          <a:prstGeom prst="rect">
            <a:avLst/>
          </a:prstGeom>
          <a:noFill/>
          <a:ln/>
        </p:spPr>
        <p:txBody>
          <a:bodyPr wrap="square" rtlCol="0" anchor="ctr"/>
          <a:lstStyle/>
          <a:p>
            <a:pPr marL="0" indent="0">
              <a:buNone/>
            </a:pPr>
            <a:r>
              <a:rPr lang="en-US" sz="1500" b="1" dirty="0">
                <a:solidFill>
                  <a:srgbClr val="E6F1F1"/>
                </a:solidFill>
                <a:latin typeface="Calibri" pitchFamily="34" charset="0"/>
                <a:ea typeface="Calibri" pitchFamily="34" charset="-122"/>
                <a:cs typeface="Calibri" pitchFamily="34" charset="-120"/>
              </a:rPr>
              <a:t>02</a:t>
            </a:r>
            <a:endParaRPr lang="en-US" sz="1500" dirty="0"/>
          </a:p>
        </p:txBody>
      </p:sp>
      <p:sp>
        <p:nvSpPr>
          <p:cNvPr id="13" name="Text 11"/>
          <p:cNvSpPr/>
          <p:nvPr/>
        </p:nvSpPr>
        <p:spPr>
          <a:xfrm>
            <a:off x="3074761" y="5806440"/>
            <a:ext cx="1758025" cy="594360"/>
          </a:xfrm>
          <a:prstGeom prst="rect">
            <a:avLst/>
          </a:prstGeom>
          <a:noFill/>
          <a:ln/>
        </p:spPr>
        <p:txBody>
          <a:bodyPr wrap="square" rtlCol="0" anchor="t"/>
          <a:lstStyle/>
          <a:p>
            <a:pPr marL="0" indent="0">
              <a:lnSpc>
                <a:spcPct val="110000"/>
              </a:lnSpc>
              <a:buNone/>
            </a:pPr>
            <a:r>
              <a:rPr lang="en-US" sz="1050" b="1" dirty="0">
                <a:solidFill>
                  <a:srgbClr val="FFFFFF"/>
                </a:solidFill>
                <a:latin typeface="Calibri" pitchFamily="34" charset="0"/>
                <a:ea typeface="Calibri" pitchFamily="34" charset="-122"/>
                <a:cs typeface="Calibri" pitchFamily="34" charset="-120"/>
              </a:rPr>
              <a:t>Separate External Receivables</a:t>
            </a:r>
            <a:endParaRPr lang="en-US" sz="1050" dirty="0"/>
          </a:p>
        </p:txBody>
      </p:sp>
      <p:sp>
        <p:nvSpPr>
          <p:cNvPr id="14" name="Shape 12"/>
          <p:cNvSpPr/>
          <p:nvPr/>
        </p:nvSpPr>
        <p:spPr>
          <a:xfrm>
            <a:off x="5107107" y="5349240"/>
            <a:ext cx="1977481" cy="1143000"/>
          </a:xfrm>
          <a:prstGeom prst="rect">
            <a:avLst/>
          </a:prstGeom>
          <a:solidFill>
            <a:schemeClr val="bg1">
              <a:lumMod val="50000"/>
            </a:schemeClr>
          </a:solidFill>
          <a:ln w="12700">
            <a:solidFill>
              <a:srgbClr val="2C3E5C"/>
            </a:solidFill>
            <a:prstDash val="solid"/>
          </a:ln>
        </p:spPr>
        <p:txBody>
          <a:bodyPr/>
          <a:lstStyle/>
          <a:p>
            <a:endParaRPr lang="en-AE"/>
          </a:p>
        </p:txBody>
      </p:sp>
      <p:sp>
        <p:nvSpPr>
          <p:cNvPr id="15" name="Text 13"/>
          <p:cNvSpPr/>
          <p:nvPr/>
        </p:nvSpPr>
        <p:spPr>
          <a:xfrm>
            <a:off x="5216835" y="5458968"/>
            <a:ext cx="1758025" cy="320040"/>
          </a:xfrm>
          <a:prstGeom prst="rect">
            <a:avLst/>
          </a:prstGeom>
          <a:noFill/>
          <a:ln/>
        </p:spPr>
        <p:txBody>
          <a:bodyPr wrap="square" rtlCol="0" anchor="ctr"/>
          <a:lstStyle/>
          <a:p>
            <a:pPr marL="0" indent="0">
              <a:buNone/>
            </a:pPr>
            <a:r>
              <a:rPr lang="en-US" sz="1500" b="1" dirty="0">
                <a:solidFill>
                  <a:srgbClr val="E6F1F1"/>
                </a:solidFill>
                <a:latin typeface="Calibri" pitchFamily="34" charset="0"/>
                <a:ea typeface="Calibri" pitchFamily="34" charset="-122"/>
                <a:cs typeface="Calibri" pitchFamily="34" charset="-120"/>
              </a:rPr>
              <a:t>03</a:t>
            </a:r>
            <a:endParaRPr lang="en-US" sz="1500" dirty="0"/>
          </a:p>
        </p:txBody>
      </p:sp>
      <p:sp>
        <p:nvSpPr>
          <p:cNvPr id="16" name="Text 14"/>
          <p:cNvSpPr/>
          <p:nvPr/>
        </p:nvSpPr>
        <p:spPr>
          <a:xfrm>
            <a:off x="5216835" y="5806440"/>
            <a:ext cx="1758025" cy="594360"/>
          </a:xfrm>
          <a:prstGeom prst="rect">
            <a:avLst/>
          </a:prstGeom>
          <a:noFill/>
          <a:ln/>
        </p:spPr>
        <p:txBody>
          <a:bodyPr wrap="square" rtlCol="0" anchor="t"/>
          <a:lstStyle/>
          <a:p>
            <a:pPr marL="0" indent="0">
              <a:lnSpc>
                <a:spcPct val="110000"/>
              </a:lnSpc>
              <a:buNone/>
            </a:pPr>
            <a:r>
              <a:rPr lang="en-US" sz="1050" b="1" dirty="0">
                <a:solidFill>
                  <a:srgbClr val="FFFFFF"/>
                </a:solidFill>
                <a:latin typeface="Calibri" pitchFamily="34" charset="0"/>
                <a:ea typeface="Calibri" pitchFamily="34" charset="-122"/>
                <a:cs typeface="Calibri" pitchFamily="34" charset="-120"/>
              </a:rPr>
              <a:t>Measure Performance</a:t>
            </a:r>
            <a:endParaRPr lang="en-US" sz="1050" dirty="0"/>
          </a:p>
        </p:txBody>
      </p:sp>
      <p:sp>
        <p:nvSpPr>
          <p:cNvPr id="17" name="Shape 15"/>
          <p:cNvSpPr/>
          <p:nvPr/>
        </p:nvSpPr>
        <p:spPr>
          <a:xfrm>
            <a:off x="7249180" y="5349240"/>
            <a:ext cx="1977481" cy="1143000"/>
          </a:xfrm>
          <a:prstGeom prst="rect">
            <a:avLst/>
          </a:prstGeom>
          <a:solidFill>
            <a:schemeClr val="bg1">
              <a:lumMod val="50000"/>
            </a:schemeClr>
          </a:solidFill>
          <a:ln w="12700">
            <a:solidFill>
              <a:srgbClr val="2C3E5C"/>
            </a:solidFill>
            <a:prstDash val="solid"/>
          </a:ln>
        </p:spPr>
        <p:txBody>
          <a:bodyPr/>
          <a:lstStyle/>
          <a:p>
            <a:endParaRPr lang="en-AE"/>
          </a:p>
        </p:txBody>
      </p:sp>
      <p:sp>
        <p:nvSpPr>
          <p:cNvPr id="18" name="Text 16"/>
          <p:cNvSpPr/>
          <p:nvPr/>
        </p:nvSpPr>
        <p:spPr>
          <a:xfrm>
            <a:off x="7358908" y="5458968"/>
            <a:ext cx="1758025" cy="320040"/>
          </a:xfrm>
          <a:prstGeom prst="rect">
            <a:avLst/>
          </a:prstGeom>
          <a:noFill/>
          <a:ln/>
        </p:spPr>
        <p:txBody>
          <a:bodyPr wrap="square" rtlCol="0" anchor="ctr"/>
          <a:lstStyle/>
          <a:p>
            <a:pPr marL="0" indent="0">
              <a:buNone/>
            </a:pPr>
            <a:r>
              <a:rPr lang="en-US" sz="1500" b="1" dirty="0">
                <a:solidFill>
                  <a:srgbClr val="E6F1F1"/>
                </a:solidFill>
                <a:latin typeface="Calibri" pitchFamily="34" charset="0"/>
                <a:ea typeface="Calibri" pitchFamily="34" charset="-122"/>
                <a:cs typeface="Calibri" pitchFamily="34" charset="-120"/>
              </a:rPr>
              <a:t>04</a:t>
            </a:r>
            <a:endParaRPr lang="en-US" sz="1500" dirty="0"/>
          </a:p>
        </p:txBody>
      </p:sp>
      <p:sp>
        <p:nvSpPr>
          <p:cNvPr id="19" name="Text 17"/>
          <p:cNvSpPr/>
          <p:nvPr/>
        </p:nvSpPr>
        <p:spPr>
          <a:xfrm>
            <a:off x="7358908" y="5806440"/>
            <a:ext cx="1758025" cy="594360"/>
          </a:xfrm>
          <a:prstGeom prst="rect">
            <a:avLst/>
          </a:prstGeom>
          <a:noFill/>
          <a:ln/>
        </p:spPr>
        <p:txBody>
          <a:bodyPr wrap="square" rtlCol="0" anchor="t"/>
          <a:lstStyle/>
          <a:p>
            <a:pPr marL="0" indent="0">
              <a:lnSpc>
                <a:spcPct val="110000"/>
              </a:lnSpc>
              <a:buNone/>
            </a:pPr>
            <a:r>
              <a:rPr lang="en-US" sz="1050" b="1" dirty="0">
                <a:solidFill>
                  <a:srgbClr val="FFFFFF"/>
                </a:solidFill>
                <a:latin typeface="Calibri" pitchFamily="34" charset="0"/>
                <a:ea typeface="Calibri" pitchFamily="34" charset="-122"/>
                <a:cs typeface="Calibri" pitchFamily="34" charset="-120"/>
              </a:rPr>
              <a:t>Top Overdue Customers</a:t>
            </a:r>
            <a:endParaRPr lang="en-US" sz="1050" dirty="0"/>
          </a:p>
        </p:txBody>
      </p:sp>
      <p:sp>
        <p:nvSpPr>
          <p:cNvPr id="20" name="Shape 18"/>
          <p:cNvSpPr/>
          <p:nvPr/>
        </p:nvSpPr>
        <p:spPr>
          <a:xfrm>
            <a:off x="9391254" y="5349240"/>
            <a:ext cx="1977481" cy="1143000"/>
          </a:xfrm>
          <a:prstGeom prst="rect">
            <a:avLst/>
          </a:prstGeom>
          <a:solidFill>
            <a:schemeClr val="bg1">
              <a:lumMod val="50000"/>
            </a:schemeClr>
          </a:solidFill>
          <a:ln w="12700">
            <a:solidFill>
              <a:srgbClr val="2C3E5C"/>
            </a:solidFill>
            <a:prstDash val="solid"/>
          </a:ln>
        </p:spPr>
        <p:txBody>
          <a:bodyPr/>
          <a:lstStyle/>
          <a:p>
            <a:endParaRPr lang="en-AE"/>
          </a:p>
        </p:txBody>
      </p:sp>
      <p:sp>
        <p:nvSpPr>
          <p:cNvPr id="21" name="Text 19"/>
          <p:cNvSpPr/>
          <p:nvPr/>
        </p:nvSpPr>
        <p:spPr>
          <a:xfrm>
            <a:off x="9500982" y="5458968"/>
            <a:ext cx="1758025" cy="320040"/>
          </a:xfrm>
          <a:prstGeom prst="rect">
            <a:avLst/>
          </a:prstGeom>
          <a:noFill/>
          <a:ln/>
        </p:spPr>
        <p:txBody>
          <a:bodyPr wrap="square" rtlCol="0" anchor="ctr"/>
          <a:lstStyle/>
          <a:p>
            <a:pPr marL="0" indent="0">
              <a:buNone/>
            </a:pPr>
            <a:r>
              <a:rPr lang="en-US" sz="1500" b="1" dirty="0">
                <a:solidFill>
                  <a:srgbClr val="E6F1F1"/>
                </a:solidFill>
                <a:latin typeface="Calibri" pitchFamily="34" charset="0"/>
                <a:ea typeface="Calibri" pitchFamily="34" charset="-122"/>
                <a:cs typeface="Calibri" pitchFamily="34" charset="-120"/>
              </a:rPr>
              <a:t>05</a:t>
            </a:r>
            <a:endParaRPr lang="en-US" sz="1500" dirty="0"/>
          </a:p>
        </p:txBody>
      </p:sp>
      <p:sp>
        <p:nvSpPr>
          <p:cNvPr id="22" name="Text 20"/>
          <p:cNvSpPr/>
          <p:nvPr/>
        </p:nvSpPr>
        <p:spPr>
          <a:xfrm>
            <a:off x="9500982" y="5806440"/>
            <a:ext cx="1758025" cy="594360"/>
          </a:xfrm>
          <a:prstGeom prst="rect">
            <a:avLst/>
          </a:prstGeom>
          <a:noFill/>
          <a:ln/>
        </p:spPr>
        <p:txBody>
          <a:bodyPr wrap="square" rtlCol="0" anchor="t"/>
          <a:lstStyle/>
          <a:p>
            <a:pPr marL="0" indent="0">
              <a:lnSpc>
                <a:spcPct val="110000"/>
              </a:lnSpc>
              <a:buNone/>
            </a:pPr>
            <a:r>
              <a:rPr lang="en-US" sz="1050" b="1" dirty="0">
                <a:solidFill>
                  <a:srgbClr val="FFFFFF"/>
                </a:solidFill>
                <a:latin typeface="Calibri" pitchFamily="34" charset="0"/>
                <a:ea typeface="Calibri" pitchFamily="34" charset="-122"/>
                <a:cs typeface="Calibri" pitchFamily="34" charset="-120"/>
              </a:rPr>
              <a:t>Traffic Light Report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chemeClr val="bg1">
              <a:lumMod val="65000"/>
            </a:schemeClr>
          </a:solidFill>
          <a:ln/>
        </p:spPr>
        <p:txBody>
          <a:bodyPr/>
          <a:lstStyle/>
          <a:p>
            <a:endParaRPr lang="en-AE"/>
          </a:p>
        </p:txBody>
      </p:sp>
      <p:sp>
        <p:nvSpPr>
          <p:cNvPr id="3" name="Text 1"/>
          <p:cNvSpPr/>
          <p:nvPr/>
        </p:nvSpPr>
        <p:spPr>
          <a:xfrm>
            <a:off x="457200" y="0"/>
            <a:ext cx="10058400" cy="8686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Monthly Dashboard &amp; Performance Measurement – External Clients</a:t>
            </a:r>
            <a:endParaRPr lang="en-US" sz="2000" dirty="0"/>
          </a:p>
        </p:txBody>
      </p:sp>
      <p:sp>
        <p:nvSpPr>
          <p:cNvPr id="4" name="Text 2"/>
          <p:cNvSpPr/>
          <p:nvPr/>
        </p:nvSpPr>
        <p:spPr>
          <a:xfrm>
            <a:off x="10424160" y="0"/>
            <a:ext cx="1325880" cy="868680"/>
          </a:xfrm>
          <a:prstGeom prst="rect">
            <a:avLst/>
          </a:prstGeom>
          <a:noFill/>
          <a:ln/>
        </p:spPr>
        <p:txBody>
          <a:bodyPr wrap="square" rtlCol="0" anchor="ctr"/>
          <a:lstStyle/>
          <a:p>
            <a:pPr marL="0" indent="0" algn="r">
              <a:buNone/>
            </a:pPr>
            <a:r>
              <a:rPr lang="en-US" sz="1050" b="1" dirty="0">
                <a:solidFill>
                  <a:srgbClr val="E6F1F1"/>
                </a:solidFill>
                <a:latin typeface="Calibri" pitchFamily="34" charset="0"/>
                <a:ea typeface="Calibri" pitchFamily="34" charset="-122"/>
                <a:cs typeface="Calibri" pitchFamily="34" charset="-120"/>
              </a:rPr>
              <a:t>SECTION 1 – 3</a:t>
            </a:r>
            <a:endParaRPr lang="en-US" sz="1050" dirty="0"/>
          </a:p>
        </p:txBody>
      </p:sp>
      <p:sp>
        <p:nvSpPr>
          <p:cNvPr id="5" name="Text 3"/>
          <p:cNvSpPr/>
          <p:nvPr/>
        </p:nvSpPr>
        <p:spPr>
          <a:xfrm>
            <a:off x="457200" y="1024128"/>
            <a:ext cx="11274552" cy="347472"/>
          </a:xfrm>
          <a:prstGeom prst="rect">
            <a:avLst/>
          </a:prstGeom>
          <a:noFill/>
          <a:ln/>
        </p:spPr>
        <p:txBody>
          <a:bodyPr wrap="square" rtlCol="0" anchor="ctr"/>
          <a:lstStyle/>
          <a:p>
            <a:pPr marL="0" indent="0">
              <a:buNone/>
            </a:pPr>
            <a:r>
              <a:rPr lang="en-US" sz="1250" b="1" dirty="0">
                <a:solidFill>
                  <a:srgbClr val="0F6E6E"/>
                </a:solidFill>
                <a:latin typeface="Calibri" pitchFamily="34" charset="0"/>
                <a:ea typeface="Calibri" pitchFamily="34" charset="-122"/>
                <a:cs typeface="Calibri" pitchFamily="34" charset="-120"/>
              </a:rPr>
              <a:t>First:  </a:t>
            </a:r>
            <a:r>
              <a:rPr lang="en-US" sz="1250" dirty="0">
                <a:solidFill>
                  <a:srgbClr val="1F2933"/>
                </a:solidFill>
                <a:latin typeface="Calibri" pitchFamily="34" charset="0"/>
                <a:ea typeface="Calibri" pitchFamily="34" charset="-122"/>
                <a:cs typeface="Calibri" pitchFamily="34" charset="-120"/>
              </a:rPr>
              <a:t>A unified monthly Dashboard, consolidated from each subsidiary’s brief report, presented at the holding company’s periodic meeting</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053594512"/>
              </p:ext>
            </p:extLst>
          </p:nvPr>
        </p:nvGraphicFramePr>
        <p:xfrm>
          <a:off x="457199" y="1417320"/>
          <a:ext cx="11274552" cy="1949958"/>
        </p:xfrm>
        <a:graphic>
          <a:graphicData uri="http://schemas.openxmlformats.org/drawingml/2006/table">
            <a:tbl>
              <a:tblPr/>
              <a:tblGrid>
                <a:gridCol w="1147604">
                  <a:extLst>
                    <a:ext uri="{9D8B030D-6E8A-4147-A177-3AD203B41FA5}">
                      <a16:colId xmlns:a16="http://schemas.microsoft.com/office/drawing/2014/main" val="20000"/>
                    </a:ext>
                  </a:extLst>
                </a:gridCol>
                <a:gridCol w="1243968">
                  <a:extLst>
                    <a:ext uri="{9D8B030D-6E8A-4147-A177-3AD203B41FA5}">
                      <a16:colId xmlns:a16="http://schemas.microsoft.com/office/drawing/2014/main" val="20001"/>
                    </a:ext>
                  </a:extLst>
                </a:gridCol>
                <a:gridCol w="1106430">
                  <a:extLst>
                    <a:ext uri="{9D8B030D-6E8A-4147-A177-3AD203B41FA5}">
                      <a16:colId xmlns:a16="http://schemas.microsoft.com/office/drawing/2014/main" val="20002"/>
                    </a:ext>
                  </a:extLst>
                </a:gridCol>
                <a:gridCol w="1040728">
                  <a:extLst>
                    <a:ext uri="{9D8B030D-6E8A-4147-A177-3AD203B41FA5}">
                      <a16:colId xmlns:a16="http://schemas.microsoft.com/office/drawing/2014/main" val="20003"/>
                    </a:ext>
                  </a:extLst>
                </a:gridCol>
                <a:gridCol w="963637">
                  <a:extLst>
                    <a:ext uri="{9D8B030D-6E8A-4147-A177-3AD203B41FA5}">
                      <a16:colId xmlns:a16="http://schemas.microsoft.com/office/drawing/2014/main" val="20004"/>
                    </a:ext>
                  </a:extLst>
                </a:gridCol>
                <a:gridCol w="1011819">
                  <a:extLst>
                    <a:ext uri="{9D8B030D-6E8A-4147-A177-3AD203B41FA5}">
                      <a16:colId xmlns:a16="http://schemas.microsoft.com/office/drawing/2014/main" val="20005"/>
                    </a:ext>
                  </a:extLst>
                </a:gridCol>
                <a:gridCol w="963637">
                  <a:extLst>
                    <a:ext uri="{9D8B030D-6E8A-4147-A177-3AD203B41FA5}">
                      <a16:colId xmlns:a16="http://schemas.microsoft.com/office/drawing/2014/main" val="20006"/>
                    </a:ext>
                  </a:extLst>
                </a:gridCol>
                <a:gridCol w="963637">
                  <a:extLst>
                    <a:ext uri="{9D8B030D-6E8A-4147-A177-3AD203B41FA5}">
                      <a16:colId xmlns:a16="http://schemas.microsoft.com/office/drawing/2014/main" val="20007"/>
                    </a:ext>
                  </a:extLst>
                </a:gridCol>
                <a:gridCol w="1040728">
                  <a:extLst>
                    <a:ext uri="{9D8B030D-6E8A-4147-A177-3AD203B41FA5}">
                      <a16:colId xmlns:a16="http://schemas.microsoft.com/office/drawing/2014/main" val="20008"/>
                    </a:ext>
                  </a:extLst>
                </a:gridCol>
                <a:gridCol w="896182">
                  <a:extLst>
                    <a:ext uri="{9D8B030D-6E8A-4147-A177-3AD203B41FA5}">
                      <a16:colId xmlns:a16="http://schemas.microsoft.com/office/drawing/2014/main" val="20009"/>
                    </a:ext>
                  </a:extLst>
                </a:gridCol>
                <a:gridCol w="896182">
                  <a:extLst>
                    <a:ext uri="{9D8B030D-6E8A-4147-A177-3AD203B41FA5}">
                      <a16:colId xmlns:a16="http://schemas.microsoft.com/office/drawing/2014/main" val="20010"/>
                    </a:ext>
                  </a:extLst>
                </a:gridCol>
              </a:tblGrid>
              <a:tr h="354330">
                <a:tc>
                  <a:txBody>
                    <a:bodyPr/>
                    <a:lstStyle/>
                    <a:p>
                      <a:pPr marL="0" indent="0" algn="ctr">
                        <a:buNone/>
                      </a:pPr>
                      <a:r>
                        <a:rPr lang="en-US" sz="860" b="1" dirty="0">
                          <a:solidFill>
                            <a:srgbClr val="FFFFFF"/>
                          </a:solidFill>
                        </a:rPr>
                        <a:t>Subsidiary (External Clients)</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Due for</a:t>
                      </a:r>
                      <a:endParaRPr lang="en-US" sz="860" dirty="0"/>
                    </a:p>
                    <a:p>
                      <a:pPr marL="0" marR="0" indent="0" algn="ctr" defTabSz="914400" rtl="0" eaLnBrk="1" latinLnBrk="0" hangingPunct="1">
                        <a:lnSpc>
                          <a:spcPct val="100000"/>
                        </a:lnSpc>
                        <a:spcBef>
                          <a:spcPts val="0"/>
                        </a:spcBef>
                        <a:spcAft>
                          <a:spcPts val="0"/>
                        </a:spcAft>
                        <a:buNone/>
                      </a:pPr>
                      <a:r>
                        <a:rPr lang="en-US" sz="860" b="1" dirty="0">
                          <a:solidFill>
                            <a:srgbClr val="FFFFFF"/>
                          </a:solidFill>
                        </a:rPr>
                        <a:t>Collection during Sep (A</a:t>
                      </a:r>
                      <a:r>
                        <a:rPr lang="en-AE" sz="860" b="1" kern="1200" dirty="0">
                          <a:solidFill>
                            <a:srgbClr val="FFFFFF"/>
                          </a:solidFill>
                          <a:latin typeface="+mn-lt"/>
                          <a:ea typeface="+mn-ea"/>
                          <a:cs typeface="+mn-cs"/>
                        </a:rPr>
                        <a:t>mounts outstanding up to Aug 2026)</a:t>
                      </a:r>
                      <a:endParaRPr lang="en-US" sz="860" b="1" kern="1200" dirty="0">
                        <a:solidFill>
                          <a:srgbClr val="FFFFFF"/>
                        </a:solidFill>
                        <a:latin typeface="+mn-lt"/>
                        <a:ea typeface="+mn-ea"/>
                        <a:cs typeface="+mn-cs"/>
                      </a:endParaRPr>
                    </a:p>
                    <a:p>
                      <a:pPr marL="0" marR="0" indent="0" algn="ctr" defTabSz="914400" rtl="0" eaLnBrk="1" latinLnBrk="0" hangingPunct="1">
                        <a:lnSpc>
                          <a:spcPct val="107000"/>
                        </a:lnSpc>
                        <a:spcBef>
                          <a:spcPts val="0"/>
                        </a:spcBef>
                        <a:spcAft>
                          <a:spcPts val="0"/>
                        </a:spcAft>
                        <a:buNone/>
                      </a:pPr>
                      <a:r>
                        <a:rPr lang="en-US" sz="860" b="1" kern="1200" dirty="0">
                          <a:solidFill>
                            <a:srgbClr val="FFFFFF"/>
                          </a:solidFill>
                          <a:latin typeface="+mn-lt"/>
                          <a:ea typeface="+mn-ea"/>
                          <a:cs typeface="+mn-cs"/>
                        </a:rPr>
                        <a:t>AED</a:t>
                      </a:r>
                    </a:p>
                    <a:p>
                      <a:pPr marL="0" indent="0" algn="ctr">
                        <a:buNone/>
                      </a:pP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Amount Collected</a:t>
                      </a:r>
                      <a:endParaRPr lang="en-US" sz="860" dirty="0"/>
                    </a:p>
                    <a:p>
                      <a:pPr marL="0" indent="0" algn="ctr">
                        <a:buNone/>
                      </a:pPr>
                      <a:r>
                        <a:rPr lang="en-US" sz="860" b="1" dirty="0">
                          <a:solidFill>
                            <a:srgbClr val="FFFFFF"/>
                          </a:solidFill>
                        </a:rPr>
                        <a:t>in Sep</a:t>
                      </a:r>
                    </a:p>
                    <a:p>
                      <a:pPr marL="0" indent="0" algn="ctr">
                        <a:buNone/>
                      </a:pPr>
                      <a:r>
                        <a:rPr lang="en-US" sz="860" b="1" dirty="0">
                          <a:solidFill>
                            <a:srgbClr val="FFFFFF"/>
                          </a:solidFill>
                        </a:rPr>
                        <a:t>AED</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Total</a:t>
                      </a:r>
                      <a:endParaRPr lang="en-US" sz="860" dirty="0"/>
                    </a:p>
                    <a:p>
                      <a:pPr marL="0" indent="0" algn="ctr">
                        <a:buNone/>
                      </a:pPr>
                      <a:r>
                        <a:rPr lang="en-US" sz="860" b="1" dirty="0">
                          <a:solidFill>
                            <a:srgbClr val="FFFFFF"/>
                          </a:solidFill>
                        </a:rPr>
                        <a:t>Outstanding as of 30 Sep 2026</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0–30 days</a:t>
                      </a:r>
                      <a:endParaRPr lang="en-US" sz="860" dirty="0"/>
                    </a:p>
                    <a:p>
                      <a:pPr marL="0" indent="0" algn="ctr">
                        <a:buNone/>
                      </a:pPr>
                      <a:r>
                        <a:rPr lang="en-US" sz="860" b="1" dirty="0">
                          <a:solidFill>
                            <a:srgbClr val="FFFFFF"/>
                          </a:solidFill>
                        </a:rPr>
                        <a:t>No risk</a:t>
                      </a:r>
                    </a:p>
                    <a:p>
                      <a:pPr marL="0" indent="0" algn="ctr">
                        <a:buNone/>
                      </a:pPr>
                      <a:r>
                        <a:rPr lang="en-US" sz="860" b="1" dirty="0">
                          <a:solidFill>
                            <a:srgbClr val="FFFFFF"/>
                          </a:solidFill>
                        </a:rPr>
                        <a:t>AED</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31–60 days</a:t>
                      </a:r>
                      <a:endParaRPr lang="en-US" sz="860" dirty="0"/>
                    </a:p>
                    <a:p>
                      <a:pPr marL="0" indent="0" algn="ctr">
                        <a:buNone/>
                      </a:pPr>
                      <a:r>
                        <a:rPr lang="en-US" sz="860" b="1" dirty="0">
                          <a:solidFill>
                            <a:srgbClr val="FFFFFF"/>
                          </a:solidFill>
                        </a:rPr>
                        <a:t>Moderate</a:t>
                      </a:r>
                    </a:p>
                    <a:p>
                      <a:pPr marL="0" indent="0" algn="ctr">
                        <a:buNone/>
                      </a:pPr>
                      <a:r>
                        <a:rPr lang="en-US" sz="860" b="1" dirty="0">
                          <a:solidFill>
                            <a:srgbClr val="FFFFFF"/>
                          </a:solidFill>
                        </a:rPr>
                        <a:t>AED</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61–90 days</a:t>
                      </a:r>
                      <a:endParaRPr lang="en-US" sz="860" dirty="0"/>
                    </a:p>
                    <a:p>
                      <a:pPr marL="0" indent="0" algn="ctr">
                        <a:buNone/>
                      </a:pPr>
                      <a:r>
                        <a:rPr lang="en-US" sz="860" b="1" dirty="0">
                          <a:solidFill>
                            <a:srgbClr val="FFFFFF"/>
                          </a:solidFill>
                        </a:rPr>
                        <a:t>High risk</a:t>
                      </a:r>
                    </a:p>
                    <a:p>
                      <a:pPr marL="0" indent="0" algn="ctr">
                        <a:buNone/>
                      </a:pPr>
                      <a:r>
                        <a:rPr lang="en-US" sz="860" b="1" dirty="0">
                          <a:solidFill>
                            <a:srgbClr val="FFFFFF"/>
                          </a:solidFill>
                        </a:rPr>
                        <a:t>AED</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+91 days</a:t>
                      </a:r>
                      <a:endParaRPr lang="en-US" sz="860" dirty="0"/>
                    </a:p>
                    <a:p>
                      <a:pPr marL="0" indent="0" algn="ctr">
                        <a:buNone/>
                      </a:pPr>
                      <a:r>
                        <a:rPr lang="en-US" sz="860" b="1" dirty="0">
                          <a:solidFill>
                            <a:srgbClr val="FFFFFF"/>
                          </a:solidFill>
                        </a:rPr>
                        <a:t>Very high</a:t>
                      </a:r>
                    </a:p>
                    <a:p>
                      <a:pPr marL="0" indent="0" algn="ctr">
                        <a:buNone/>
                      </a:pPr>
                      <a:r>
                        <a:rPr lang="en-US" sz="860" b="1" dirty="0">
                          <a:solidFill>
                            <a:srgbClr val="FFFFFF"/>
                          </a:solidFill>
                        </a:rPr>
                        <a:t>AED</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Overdue amounts as of 30 Sep 2026</a:t>
                      </a:r>
                      <a:endParaRPr lang="en-US" sz="860" dirty="0"/>
                    </a:p>
                    <a:p>
                      <a:pPr marL="0" indent="0" algn="ctr">
                        <a:buNone/>
                      </a:pPr>
                      <a:r>
                        <a:rPr lang="en-US" sz="860" b="1" dirty="0">
                          <a:solidFill>
                            <a:srgbClr val="FFFFFF"/>
                          </a:solidFill>
                        </a:rPr>
                        <a:t>(61+ days) </a:t>
                      </a:r>
                    </a:p>
                    <a:p>
                      <a:pPr marL="0" indent="0" algn="ctr">
                        <a:buNone/>
                      </a:pPr>
                      <a:r>
                        <a:rPr lang="en-US" sz="860" b="1" dirty="0">
                          <a:solidFill>
                            <a:srgbClr val="FFFFFF"/>
                          </a:solidFill>
                        </a:rPr>
                        <a:t>AED</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Collection</a:t>
                      </a:r>
                      <a:endParaRPr lang="en-US" sz="860" dirty="0"/>
                    </a:p>
                    <a:p>
                      <a:pPr marL="0" indent="0" algn="ctr">
                        <a:buNone/>
                      </a:pPr>
                      <a:r>
                        <a:rPr lang="en-US" sz="860" b="1" dirty="0">
                          <a:solidFill>
                            <a:srgbClr val="FFFFFF"/>
                          </a:solidFill>
                        </a:rPr>
                        <a:t>Rate</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Overdue</a:t>
                      </a:r>
                      <a:endParaRPr lang="en-US" sz="860" dirty="0"/>
                    </a:p>
                    <a:p>
                      <a:pPr marL="0" indent="0" algn="ctr">
                        <a:buNone/>
                      </a:pPr>
                      <a:r>
                        <a:rPr lang="en-US" sz="860" b="1" dirty="0">
                          <a:solidFill>
                            <a:srgbClr val="FFFFFF"/>
                          </a:solidFill>
                        </a:rPr>
                        <a:t>Rate</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354330">
                <a:tc>
                  <a:txBody>
                    <a:bodyPr/>
                    <a:lstStyle/>
                    <a:p>
                      <a:pPr marL="0" indent="0" algn="l">
                        <a:buNone/>
                      </a:pPr>
                      <a:r>
                        <a:rPr lang="en-US" sz="900" b="1" dirty="0">
                          <a:solidFill>
                            <a:srgbClr val="1F2933"/>
                          </a:solidFill>
                        </a:rPr>
                        <a:t>NPS</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1.30m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0.78m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0.93m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0.74m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0.19m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0.19m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60%</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20%</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4330">
                <a:tc>
                  <a:txBody>
                    <a:bodyPr/>
                    <a:lstStyle/>
                    <a:p>
                      <a:pPr marL="0" indent="0" algn="l">
                        <a:buNone/>
                      </a:pPr>
                      <a:r>
                        <a:rPr lang="en-US" sz="900" b="1" dirty="0">
                          <a:solidFill>
                            <a:srgbClr val="1F2933"/>
                          </a:solidFill>
                        </a:rPr>
                        <a:t>NPM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0%</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0%</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354330">
                <a:tc>
                  <a:txBody>
                    <a:bodyPr/>
                    <a:lstStyle/>
                    <a:p>
                      <a:pPr marL="0" indent="0" algn="l">
                        <a:buNone/>
                      </a:pPr>
                      <a:r>
                        <a:rPr lang="en-US" sz="900" b="1" dirty="0">
                          <a:solidFill>
                            <a:srgbClr val="1B2A4A"/>
                          </a:solidFill>
                        </a:rPr>
                        <a:t>Total</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1.30m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0.78m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0.93m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0.74m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0.19m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0.19m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60%</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20%</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extLst>
                  <a:ext uri="{0D108BD9-81ED-4DB2-BD59-A6C34878D82A}">
                    <a16:rowId xmlns:a16="http://schemas.microsoft.com/office/drawing/2014/main" val="10003"/>
                  </a:ext>
                </a:extLst>
              </a:tr>
            </a:tbl>
          </a:graphicData>
        </a:graphic>
      </p:graphicFrame>
      <p:sp>
        <p:nvSpPr>
          <p:cNvPr id="7" name="Shape 4"/>
          <p:cNvSpPr/>
          <p:nvPr/>
        </p:nvSpPr>
        <p:spPr>
          <a:xfrm>
            <a:off x="457200" y="3672564"/>
            <a:ext cx="11274552" cy="457200"/>
          </a:xfrm>
          <a:prstGeom prst="rect">
            <a:avLst/>
          </a:prstGeom>
          <a:solidFill>
            <a:srgbClr val="F4F6F8"/>
          </a:solidFill>
          <a:ln/>
        </p:spPr>
        <p:txBody>
          <a:bodyPr/>
          <a:lstStyle/>
          <a:p>
            <a:endParaRPr lang="en-AE"/>
          </a:p>
        </p:txBody>
      </p:sp>
      <p:sp>
        <p:nvSpPr>
          <p:cNvPr id="8" name="Text 5"/>
          <p:cNvSpPr/>
          <p:nvPr/>
        </p:nvSpPr>
        <p:spPr>
          <a:xfrm>
            <a:off x="640080" y="3672564"/>
            <a:ext cx="10908792" cy="457200"/>
          </a:xfrm>
          <a:prstGeom prst="rect">
            <a:avLst/>
          </a:prstGeom>
          <a:noFill/>
          <a:ln/>
        </p:spPr>
        <p:txBody>
          <a:bodyPr wrap="square" rtlCol="0" anchor="ctr"/>
          <a:lstStyle/>
          <a:p>
            <a:pPr marL="0" indent="0">
              <a:buNone/>
            </a:pPr>
            <a:r>
              <a:rPr lang="en-US" sz="1150" b="1" dirty="0">
                <a:solidFill>
                  <a:srgbClr val="0F6E6E"/>
                </a:solidFill>
                <a:latin typeface="Calibri" pitchFamily="34" charset="0"/>
                <a:ea typeface="Calibri" pitchFamily="34" charset="-122"/>
                <a:cs typeface="Calibri" pitchFamily="34" charset="-120"/>
              </a:rPr>
              <a:t>Second:  </a:t>
            </a:r>
            <a:r>
              <a:rPr lang="en-US" sz="1150" dirty="0">
                <a:solidFill>
                  <a:srgbClr val="1F2933"/>
                </a:solidFill>
                <a:latin typeface="Calibri" pitchFamily="34" charset="0"/>
                <a:ea typeface="Calibri" pitchFamily="34" charset="-122"/>
                <a:cs typeface="Calibri" pitchFamily="34" charset="-120"/>
              </a:rPr>
              <a:t>Receivables due from external parties are reported separately from amounts due from subsidiaries, the holding company, and the Engineering Office</a:t>
            </a:r>
            <a:endParaRPr lang="en-US" sz="1150" dirty="0"/>
          </a:p>
        </p:txBody>
      </p:sp>
      <p:sp>
        <p:nvSpPr>
          <p:cNvPr id="9" name="Text 6"/>
          <p:cNvSpPr/>
          <p:nvPr/>
        </p:nvSpPr>
        <p:spPr>
          <a:xfrm>
            <a:off x="457200" y="4152208"/>
            <a:ext cx="11274552" cy="320040"/>
          </a:xfrm>
          <a:prstGeom prst="rect">
            <a:avLst/>
          </a:prstGeom>
          <a:noFill/>
          <a:ln/>
        </p:spPr>
        <p:txBody>
          <a:bodyPr wrap="square" rtlCol="0" anchor="ctr"/>
          <a:lstStyle/>
          <a:p>
            <a:pPr marL="0" indent="0">
              <a:buNone/>
            </a:pPr>
            <a:r>
              <a:rPr lang="en-US" sz="1250" b="1" dirty="0">
                <a:solidFill>
                  <a:srgbClr val="0F6E6E"/>
                </a:solidFill>
                <a:latin typeface="Calibri" pitchFamily="34" charset="0"/>
                <a:ea typeface="Calibri" pitchFamily="34" charset="-122"/>
                <a:cs typeface="Calibri" pitchFamily="34" charset="-120"/>
              </a:rPr>
              <a:t>Third:  </a:t>
            </a:r>
            <a:r>
              <a:rPr lang="en-US" sz="1250" dirty="0">
                <a:solidFill>
                  <a:srgbClr val="1F2933"/>
                </a:solidFill>
                <a:latin typeface="Calibri" pitchFamily="34" charset="0"/>
                <a:ea typeface="Calibri" pitchFamily="34" charset="-122"/>
                <a:cs typeface="Calibri" pitchFamily="34" charset="-120"/>
              </a:rPr>
              <a:t>Measuring Company Performance — Three KPIs are set for each company</a:t>
            </a:r>
            <a:endParaRPr lang="en-US" sz="1250" dirty="0"/>
          </a:p>
        </p:txBody>
      </p:sp>
      <p:sp>
        <p:nvSpPr>
          <p:cNvPr id="10" name="Shape 7"/>
          <p:cNvSpPr/>
          <p:nvPr/>
        </p:nvSpPr>
        <p:spPr>
          <a:xfrm>
            <a:off x="457200" y="4517968"/>
            <a:ext cx="3605784" cy="1417320"/>
          </a:xfrm>
          <a:prstGeom prst="rect">
            <a:avLst/>
          </a:prstGeom>
          <a:solidFill>
            <a:srgbClr val="E6F1F1"/>
          </a:solidFill>
          <a:ln w="9525">
            <a:solidFill>
              <a:srgbClr val="D9DEE4"/>
            </a:solidFill>
            <a:prstDash val="solid"/>
          </a:ln>
        </p:spPr>
        <p:txBody>
          <a:bodyPr/>
          <a:lstStyle/>
          <a:p>
            <a:endParaRPr lang="en-AE"/>
          </a:p>
        </p:txBody>
      </p:sp>
      <p:sp>
        <p:nvSpPr>
          <p:cNvPr id="11" name="Text 8"/>
          <p:cNvSpPr/>
          <p:nvPr/>
        </p:nvSpPr>
        <p:spPr>
          <a:xfrm>
            <a:off x="594360" y="4645984"/>
            <a:ext cx="3331464" cy="292608"/>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Collection Rate</a:t>
            </a:r>
            <a:endParaRPr lang="en-US" sz="1250" dirty="0"/>
          </a:p>
        </p:txBody>
      </p:sp>
      <p:sp>
        <p:nvSpPr>
          <p:cNvPr id="12" name="Text 9"/>
          <p:cNvSpPr/>
          <p:nvPr/>
        </p:nvSpPr>
        <p:spPr>
          <a:xfrm>
            <a:off x="594360" y="4975168"/>
            <a:ext cx="3331464" cy="594360"/>
          </a:xfrm>
          <a:prstGeom prst="rect">
            <a:avLst/>
          </a:prstGeom>
          <a:noFill/>
          <a:ln/>
        </p:spPr>
        <p:txBody>
          <a:bodyPr wrap="square" rtlCol="0" anchor="ctr"/>
          <a:lstStyle/>
          <a:p>
            <a:pPr marL="0" indent="0">
              <a:lnSpc>
                <a:spcPct val="120000"/>
              </a:lnSpc>
              <a:buNone/>
            </a:pPr>
            <a:r>
              <a:rPr lang="en-US" sz="950" dirty="0">
                <a:solidFill>
                  <a:srgbClr val="1F2933"/>
                </a:solidFill>
                <a:latin typeface="Calibri" pitchFamily="34" charset="0"/>
                <a:ea typeface="Calibri" pitchFamily="34" charset="-122"/>
                <a:cs typeface="Calibri" pitchFamily="34" charset="-120"/>
              </a:rPr>
              <a:t>Amounts collected this month ÷ amounts due for collection till end of previous month</a:t>
            </a:r>
            <a:endParaRPr lang="en-US" sz="950" dirty="0"/>
          </a:p>
        </p:txBody>
      </p:sp>
      <p:sp>
        <p:nvSpPr>
          <p:cNvPr id="13" name="Text 10"/>
          <p:cNvSpPr/>
          <p:nvPr/>
        </p:nvSpPr>
        <p:spPr>
          <a:xfrm>
            <a:off x="594360" y="5587816"/>
            <a:ext cx="3331464" cy="274320"/>
          </a:xfrm>
          <a:prstGeom prst="rect">
            <a:avLst/>
          </a:prstGeom>
          <a:noFill/>
          <a:ln/>
        </p:spPr>
        <p:txBody>
          <a:bodyPr wrap="square" rtlCol="0" anchor="ctr"/>
          <a:lstStyle/>
          <a:p>
            <a:pPr marL="0" indent="0">
              <a:buNone/>
            </a:pPr>
            <a:r>
              <a:rPr lang="en-US" sz="950" b="1" i="1" dirty="0">
                <a:solidFill>
                  <a:srgbClr val="0F6E6E"/>
                </a:solidFill>
                <a:latin typeface="Calibri" pitchFamily="34" charset="0"/>
                <a:ea typeface="Calibri" pitchFamily="34" charset="-122"/>
                <a:cs typeface="Calibri" pitchFamily="34" charset="-120"/>
              </a:rPr>
              <a:t>NPS 60%  |  NPM n/a  |  Group 60%</a:t>
            </a:r>
            <a:endParaRPr lang="en-US" sz="950" dirty="0"/>
          </a:p>
        </p:txBody>
      </p:sp>
      <p:sp>
        <p:nvSpPr>
          <p:cNvPr id="14" name="Shape 11"/>
          <p:cNvSpPr/>
          <p:nvPr/>
        </p:nvSpPr>
        <p:spPr>
          <a:xfrm>
            <a:off x="4291584" y="4517968"/>
            <a:ext cx="3605784" cy="1417320"/>
          </a:xfrm>
          <a:prstGeom prst="rect">
            <a:avLst/>
          </a:prstGeom>
          <a:solidFill>
            <a:srgbClr val="E6F1F1"/>
          </a:solidFill>
          <a:ln w="9525">
            <a:solidFill>
              <a:srgbClr val="D9DEE4"/>
            </a:solidFill>
            <a:prstDash val="solid"/>
          </a:ln>
        </p:spPr>
        <p:txBody>
          <a:bodyPr/>
          <a:lstStyle/>
          <a:p>
            <a:endParaRPr lang="en-AE"/>
          </a:p>
        </p:txBody>
      </p:sp>
      <p:sp>
        <p:nvSpPr>
          <p:cNvPr id="15" name="Text 12"/>
          <p:cNvSpPr/>
          <p:nvPr/>
        </p:nvSpPr>
        <p:spPr>
          <a:xfrm>
            <a:off x="4428744" y="4645984"/>
            <a:ext cx="3331464" cy="292608"/>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Overdue Ratio</a:t>
            </a:r>
            <a:endParaRPr lang="en-US" sz="1250" dirty="0"/>
          </a:p>
        </p:txBody>
      </p:sp>
      <p:sp>
        <p:nvSpPr>
          <p:cNvPr id="16" name="Text 13"/>
          <p:cNvSpPr/>
          <p:nvPr/>
        </p:nvSpPr>
        <p:spPr>
          <a:xfrm>
            <a:off x="4428744" y="4975168"/>
            <a:ext cx="3331464" cy="594360"/>
          </a:xfrm>
          <a:prstGeom prst="rect">
            <a:avLst/>
          </a:prstGeom>
          <a:noFill/>
          <a:ln/>
        </p:spPr>
        <p:txBody>
          <a:bodyPr wrap="square" rtlCol="0" anchor="ctr"/>
          <a:lstStyle/>
          <a:p>
            <a:pPr marL="0" indent="0">
              <a:lnSpc>
                <a:spcPct val="120000"/>
              </a:lnSpc>
              <a:buNone/>
            </a:pPr>
            <a:r>
              <a:rPr lang="en-US" sz="950" dirty="0">
                <a:solidFill>
                  <a:srgbClr val="1F2933"/>
                </a:solidFill>
                <a:latin typeface="Calibri" pitchFamily="34" charset="0"/>
                <a:ea typeface="Calibri" pitchFamily="34" charset="-122"/>
                <a:cs typeface="Calibri" pitchFamily="34" charset="-120"/>
              </a:rPr>
              <a:t>Overdue receivables (over 60 days) ÷ total receivables of the company</a:t>
            </a:r>
            <a:endParaRPr lang="en-US" sz="950" dirty="0"/>
          </a:p>
        </p:txBody>
      </p:sp>
      <p:sp>
        <p:nvSpPr>
          <p:cNvPr id="17" name="Text 14"/>
          <p:cNvSpPr/>
          <p:nvPr/>
        </p:nvSpPr>
        <p:spPr>
          <a:xfrm>
            <a:off x="4428744" y="5587816"/>
            <a:ext cx="3331464" cy="274320"/>
          </a:xfrm>
          <a:prstGeom prst="rect">
            <a:avLst/>
          </a:prstGeom>
          <a:noFill/>
          <a:ln/>
        </p:spPr>
        <p:txBody>
          <a:bodyPr wrap="square" rtlCol="0" anchor="ctr"/>
          <a:lstStyle/>
          <a:p>
            <a:pPr marL="0" indent="0">
              <a:buNone/>
            </a:pPr>
            <a:r>
              <a:rPr lang="en-US" sz="950" b="1" i="1" dirty="0">
                <a:solidFill>
                  <a:srgbClr val="0F6E6E"/>
                </a:solidFill>
                <a:latin typeface="Calibri" pitchFamily="34" charset="0"/>
                <a:ea typeface="Calibri" pitchFamily="34" charset="-122"/>
                <a:cs typeface="Calibri" pitchFamily="34" charset="-120"/>
              </a:rPr>
              <a:t>NPS 20%  |  NPM n/a  |  Group 20%</a:t>
            </a:r>
            <a:endParaRPr lang="en-US" sz="950" dirty="0"/>
          </a:p>
        </p:txBody>
      </p:sp>
      <p:sp>
        <p:nvSpPr>
          <p:cNvPr id="18" name="Shape 15"/>
          <p:cNvSpPr/>
          <p:nvPr/>
        </p:nvSpPr>
        <p:spPr>
          <a:xfrm>
            <a:off x="8125968" y="4517968"/>
            <a:ext cx="3605784" cy="1417320"/>
          </a:xfrm>
          <a:prstGeom prst="rect">
            <a:avLst/>
          </a:prstGeom>
          <a:solidFill>
            <a:srgbClr val="FAE7E4"/>
          </a:solidFill>
          <a:ln w="9525">
            <a:solidFill>
              <a:srgbClr val="D9DEE4"/>
            </a:solidFill>
            <a:prstDash val="solid"/>
          </a:ln>
        </p:spPr>
        <p:txBody>
          <a:bodyPr/>
          <a:lstStyle/>
          <a:p>
            <a:endParaRPr lang="en-AE"/>
          </a:p>
        </p:txBody>
      </p:sp>
      <p:sp>
        <p:nvSpPr>
          <p:cNvPr id="19" name="Shape 16"/>
          <p:cNvSpPr/>
          <p:nvPr/>
        </p:nvSpPr>
        <p:spPr>
          <a:xfrm>
            <a:off x="8263128" y="4682560"/>
            <a:ext cx="201168" cy="201168"/>
          </a:xfrm>
          <a:prstGeom prst="ellipse">
            <a:avLst/>
          </a:prstGeom>
          <a:solidFill>
            <a:srgbClr val="C0392B"/>
          </a:solidFill>
          <a:ln/>
        </p:spPr>
        <p:txBody>
          <a:bodyPr/>
          <a:lstStyle/>
          <a:p>
            <a:endParaRPr lang="en-AE"/>
          </a:p>
        </p:txBody>
      </p:sp>
      <p:sp>
        <p:nvSpPr>
          <p:cNvPr id="20" name="Text 17"/>
          <p:cNvSpPr/>
          <p:nvPr/>
        </p:nvSpPr>
        <p:spPr>
          <a:xfrm>
            <a:off x="8564880" y="4645984"/>
            <a:ext cx="3029712" cy="292608"/>
          </a:xfrm>
          <a:prstGeom prst="rect">
            <a:avLst/>
          </a:prstGeom>
          <a:noFill/>
          <a:ln/>
        </p:spPr>
        <p:txBody>
          <a:bodyPr wrap="square" rtlCol="0" anchor="ctr"/>
          <a:lstStyle/>
          <a:p>
            <a:pPr marL="0" indent="0">
              <a:buNone/>
            </a:pPr>
            <a:r>
              <a:rPr lang="en-US" sz="1250" b="1" dirty="0">
                <a:solidFill>
                  <a:srgbClr val="C0392B"/>
                </a:solidFill>
                <a:latin typeface="Calibri" pitchFamily="34" charset="0"/>
                <a:ea typeface="Calibri" pitchFamily="34" charset="-122"/>
                <a:cs typeface="Calibri" pitchFamily="34" charset="-120"/>
              </a:rPr>
              <a:t>Very High Risk</a:t>
            </a:r>
            <a:endParaRPr lang="en-US" sz="1250" dirty="0"/>
          </a:p>
        </p:txBody>
      </p:sp>
      <p:sp>
        <p:nvSpPr>
          <p:cNvPr id="21" name="Text 18"/>
          <p:cNvSpPr/>
          <p:nvPr/>
        </p:nvSpPr>
        <p:spPr>
          <a:xfrm>
            <a:off x="8263128" y="4975168"/>
            <a:ext cx="3331464" cy="822960"/>
          </a:xfrm>
          <a:prstGeom prst="rect">
            <a:avLst/>
          </a:prstGeom>
          <a:noFill/>
          <a:ln/>
        </p:spPr>
        <p:txBody>
          <a:bodyPr wrap="square" rtlCol="0" anchor="ctr"/>
          <a:lstStyle/>
          <a:p>
            <a:pPr marL="0" indent="0">
              <a:lnSpc>
                <a:spcPct val="120000"/>
              </a:lnSpc>
              <a:buNone/>
            </a:pPr>
            <a:r>
              <a:rPr lang="en-US" sz="950" dirty="0">
                <a:solidFill>
                  <a:srgbClr val="1F2933"/>
                </a:solidFill>
                <a:latin typeface="Calibri" pitchFamily="34" charset="0"/>
                <a:ea typeface="Calibri" pitchFamily="34" charset="-122"/>
                <a:cs typeface="Calibri" pitchFamily="34" charset="-120"/>
              </a:rPr>
              <a:t>Debts outstanding over 91 days indicate a very high risk of non-collection and require immediate escalation.</a:t>
            </a:r>
            <a:endParaRPr lang="en-US" sz="950" dirty="0"/>
          </a:p>
          <a:p>
            <a:pPr marL="0" indent="0">
              <a:spcBef>
                <a:spcPts val="600"/>
              </a:spcBef>
              <a:lnSpc>
                <a:spcPct val="120000"/>
              </a:lnSpc>
              <a:buNone/>
            </a:pPr>
            <a:r>
              <a:rPr lang="en-US" sz="950" dirty="0" b="1">
                <a:solidFill>
                  <a:srgbClr val="1F2933"/>
                </a:solidFill>
                <a:latin typeface="Calibri" pitchFamily="34" charset="0"/>
                <a:ea typeface="Calibri" pitchFamily="34" charset="-122"/>
                <a:cs typeface="Calibri" pitchFamily="34" charset="-120"/>
              </a:rPr>
              <a:t>+91 days:  NPS nil  |  NPM nil  |  Group nil</a:t>
            </a:r>
            <a:endParaRPr lang="en-US" sz="950" dirty="0"/>
          </a:p>
        </p:txBody>
      </p:sp>
      <p:sp>
        <p:nvSpPr>
          <p:cNvPr id="22" name="Table note"/>
          <p:cNvSpPr txBox="1"/>
          <p:nvPr/>
        </p:nvSpPr>
        <p:spPr>
          <a:xfrm>
            <a:off x="457200" y="3395000"/>
            <a:ext cx="11274552" cy="250000"/>
          </a:xfrm>
          <a:prstGeom prst="rect">
            <a:avLst/>
          </a:prstGeom>
          <a:noFill/>
        </p:spPr>
        <p:txBody>
          <a:bodyPr wrap="square" tIns="0" bIns="0">
            <a:spAutoFit/>
          </a:bodyPr>
          <a:lstStyle/>
          <a:p>
            <a:r>
              <a:rPr sz="900" i="1">
                <a:solidFill>
                  <a:srgbClr val="5A6472"/>
                </a:solidFill>
                <a:latin typeface="Calibri"/>
              </a:rPr>
              <a:t>External clients only (NPM has none – all its receivables are intercompany). Outstanding and overdue are net of AED 36k collected 1–16 Oct; collection rate uses September collections only. Amounts in AED.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chemeClr val="bg1">
              <a:lumMod val="75000"/>
            </a:schemeClr>
          </a:solidFill>
          <a:ln/>
        </p:spPr>
        <p:txBody>
          <a:bodyPr/>
          <a:lstStyle/>
          <a:p>
            <a:endParaRPr lang="en-AE"/>
          </a:p>
        </p:txBody>
      </p:sp>
      <p:sp>
        <p:nvSpPr>
          <p:cNvPr id="3" name="Text 1"/>
          <p:cNvSpPr/>
          <p:nvPr/>
        </p:nvSpPr>
        <p:spPr>
          <a:xfrm>
            <a:off x="457200" y="0"/>
            <a:ext cx="10058400" cy="8686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Top Overdue Customers &amp; Risk Monitoring – External Clients</a:t>
            </a:r>
            <a:endParaRPr lang="en-US" sz="2000" dirty="0"/>
          </a:p>
        </p:txBody>
      </p:sp>
      <p:sp>
        <p:nvSpPr>
          <p:cNvPr id="4" name="Text 2"/>
          <p:cNvSpPr/>
          <p:nvPr/>
        </p:nvSpPr>
        <p:spPr>
          <a:xfrm>
            <a:off x="10424160" y="0"/>
            <a:ext cx="1325880" cy="868680"/>
          </a:xfrm>
          <a:prstGeom prst="rect">
            <a:avLst/>
          </a:prstGeom>
          <a:noFill/>
          <a:ln/>
        </p:spPr>
        <p:txBody>
          <a:bodyPr wrap="square" rtlCol="0" anchor="ctr"/>
          <a:lstStyle/>
          <a:p>
            <a:pPr marL="0" indent="0" algn="r">
              <a:buNone/>
            </a:pPr>
            <a:r>
              <a:rPr lang="en-US" sz="1050" b="1" dirty="0">
                <a:solidFill>
                  <a:srgbClr val="E6F1F1"/>
                </a:solidFill>
                <a:latin typeface="Calibri" pitchFamily="34" charset="0"/>
                <a:ea typeface="Calibri" pitchFamily="34" charset="-122"/>
                <a:cs typeface="Calibri" pitchFamily="34" charset="-120"/>
              </a:rPr>
              <a:t>SECTION 4 – 5</a:t>
            </a:r>
            <a:endParaRPr lang="en-US" sz="1050" dirty="0"/>
          </a:p>
        </p:txBody>
      </p:sp>
      <p:sp>
        <p:nvSpPr>
          <p:cNvPr id="5" name="Text 3"/>
          <p:cNvSpPr/>
          <p:nvPr/>
        </p:nvSpPr>
        <p:spPr>
          <a:xfrm>
            <a:off x="457200" y="1024128"/>
            <a:ext cx="11274552" cy="320040"/>
          </a:xfrm>
          <a:prstGeom prst="rect">
            <a:avLst/>
          </a:prstGeom>
          <a:noFill/>
          <a:ln/>
        </p:spPr>
        <p:txBody>
          <a:bodyPr wrap="square" rtlCol="0" anchor="ctr"/>
          <a:lstStyle/>
          <a:p>
            <a:pPr marL="0" indent="0">
              <a:buNone/>
            </a:pPr>
            <a:r>
              <a:rPr lang="en-US" sz="1250" b="1" dirty="0">
                <a:solidFill>
                  <a:srgbClr val="0F6E6E"/>
                </a:solidFill>
                <a:latin typeface="Calibri" pitchFamily="34" charset="0"/>
                <a:ea typeface="Calibri" pitchFamily="34" charset="-122"/>
                <a:cs typeface="Calibri" pitchFamily="34" charset="-120"/>
              </a:rPr>
              <a:t>Fourth:  </a:t>
            </a:r>
            <a:r>
              <a:rPr lang="en-US" sz="1250" dirty="0">
                <a:solidFill>
                  <a:srgbClr val="1F2933"/>
                </a:solidFill>
                <a:latin typeface="Calibri" pitchFamily="34" charset="0"/>
                <a:ea typeface="Calibri" pitchFamily="34" charset="-122"/>
                <a:cs typeface="Calibri" pitchFamily="34" charset="-120"/>
              </a:rPr>
              <a:t>Top Overdue Customers for each company — covering at least 80% of total outstanding receivables</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3104897496"/>
              </p:ext>
            </p:extLst>
          </p:nvPr>
        </p:nvGraphicFramePr>
        <p:xfrm>
          <a:off x="457200" y="1371600"/>
          <a:ext cx="11274552" cy="1150000"/>
        </p:xfrm>
        <a:graphic>
          <a:graphicData uri="http://schemas.openxmlformats.org/drawingml/2006/table">
            <a:tbl>
              <a:tblPr/>
              <a:tblGrid>
                <a:gridCol w="3900000">
                  <a:extLst>
                    <a:ext uri="{9D8B030D-6E8A-4147-A177-3AD203B41FA5}">
                      <a16:colId xmlns:a16="http://schemas.microsoft.com/office/drawing/2014/main" val="20000"/>
                    </a:ext>
                  </a:extLst>
                </a:gridCol>
                <a:gridCol w="750000">
                  <a:extLst>
                    <a:ext uri="{9D8B030D-6E8A-4147-A177-3AD203B41FA5}">
                      <a16:colId xmlns:a16="http://schemas.microsoft.com/office/drawing/2014/main" val="20001"/>
                    </a:ext>
                  </a:extLst>
                </a:gridCol>
                <a:gridCol w="750000">
                  <a:extLst>
                    <a:ext uri="{9D8B030D-6E8A-4147-A177-3AD203B41FA5}">
                      <a16:colId xmlns:a16="http://schemas.microsoft.com/office/drawing/2014/main" val="20002"/>
                    </a:ext>
                  </a:extLst>
                </a:gridCol>
                <a:gridCol w="1300000">
                  <a:extLst>
                    <a:ext uri="{9D8B030D-6E8A-4147-A177-3AD203B41FA5}">
                      <a16:colId xmlns:a16="http://schemas.microsoft.com/office/drawing/2014/main" val="20003"/>
                    </a:ext>
                  </a:extLst>
                </a:gridCol>
                <a:gridCol w="1100000">
                  <a:extLst>
                    <a:ext uri="{9D8B030D-6E8A-4147-A177-3AD203B41FA5}">
                      <a16:colId xmlns:a16="http://schemas.microsoft.com/office/drawing/2014/main" val="20004"/>
                    </a:ext>
                  </a:extLst>
                </a:gridCol>
                <a:gridCol w="2000000">
                  <a:extLst>
                    <a:ext uri="{9D8B030D-6E8A-4147-A177-3AD203B41FA5}">
                      <a16:colId xmlns:a16="http://schemas.microsoft.com/office/drawing/2014/main" val="20005"/>
                    </a:ext>
                  </a:extLst>
                </a:gridCol>
                <a:gridCol w="1474552">
                  <a:extLst>
                    <a:ext uri="{9D8B030D-6E8A-4147-A177-3AD203B41FA5}">
                      <a16:colId xmlns:a16="http://schemas.microsoft.com/office/drawing/2014/main" val="20006"/>
                    </a:ext>
                  </a:extLst>
                </a:gridCol>
              </a:tblGrid>
              <a:tr h="340000">
                <a:tc>
                  <a:txBody>
                    <a:bodyPr/>
                    <a:lstStyle/>
                    <a:p>
                      <a:pPr marL="0" indent="0" algn="ctr">
                        <a:buNone/>
                      </a:pPr>
                      <a:r>
                        <a:rPr lang="en-US" sz="950" b="1" dirty="0">
                          <a:solidFill>
                            <a:srgbClr val="FFFFFF"/>
                          </a:solidFill>
                        </a:rPr>
                        <a:t>Client</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950" b="1" dirty="0">
                          <a:solidFill>
                            <a:srgbClr val="FFFFFF"/>
                          </a:solidFill>
                        </a:rPr>
                        <a:t>Amount</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950" b="1" dirty="0">
                          <a:solidFill>
                            <a:srgbClr val="FFFFFF"/>
                          </a:solidFill>
                        </a:rPr>
                        <a:t>Duration</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950" b="1" dirty="0">
                          <a:solidFill>
                            <a:srgbClr val="FFFFFF"/>
                          </a:solidFill>
                        </a:rPr>
                        <a:t>Reason</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950" b="1" dirty="0">
                          <a:solidFill>
                            <a:srgbClr val="FFFFFF"/>
                          </a:solidFill>
                        </a:rPr>
                        <a:t>Responsible</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950" b="1" dirty="0">
                          <a:solidFill>
                            <a:srgbClr val="FFFFFF"/>
                          </a:solidFill>
                        </a:rPr>
                        <a:t>Action to be Taken</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950" b="1" dirty="0">
                          <a:solidFill>
                            <a:srgbClr val="FFFFFF"/>
                          </a:solidFill>
                        </a:rPr>
                        <a:t>Expected</a:t>
                      </a:r>
                      <a:endParaRPr lang="en-US" sz="950" dirty="0"/>
                    </a:p>
                    <a:p>
                      <a:pPr marL="0" indent="0" algn="ctr">
                        <a:buNone/>
                      </a:pPr>
                      <a:r>
                        <a:rPr lang="en-US" sz="950" b="1" dirty="0">
                          <a:solidFill>
                            <a:srgbClr val="FFFFFF"/>
                          </a:solidFill>
                        </a:rPr>
                        <a:t>Collection Date</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270000">
                <a:tc>
                  <a:txBody>
                    <a:bodyPr/>
                    <a:lstStyle/>
                    <a:p>
                      <a:pPr marL="0" indent="0" algn="l">
                        <a:buNone/>
                      </a:pPr>
                      <a:r>
                        <a:rPr lang="en-US" sz="900" b="1" dirty="0">
                          <a:solidFill>
                            <a:srgbClr val="1F2933"/>
                          </a:solidFill>
                        </a:rPr>
                        <a:t>NPS – Seattle International Services – L.L.C – S.P.C</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0.47m</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61 days</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l">
                        <a:buNone/>
                      </a:pPr>
                      <a:r>
                        <a:rPr lang="en-US" sz="900" i="1" dirty="0">
                          <a:solidFill>
                            <a:srgbClr val="1F2933"/>
                          </a:solidFill>
                        </a:rPr>
                        <a:t>To be determined in the meeting</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0000">
                <a:tc>
                  <a:txBody>
                    <a:bodyPr/>
                    <a:lstStyle/>
                    <a:p>
                      <a:pPr marL="0" indent="0" algn="l">
                        <a:buNone/>
                      </a:pPr>
                      <a:r>
                        <a:rPr lang="en-US" sz="900" b="1" dirty="0">
                          <a:solidFill>
                            <a:srgbClr val="1F2933"/>
                          </a:solidFill>
                        </a:rPr>
                        <a:t>NPS – SML Abu Dhabi Engineering &amp; Contracting - L.L.C</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0.30m</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30 days</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l">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l">
                        <a:buNone/>
                      </a:pPr>
                      <a:r>
                        <a:rPr lang="en-US" sz="900" i="1" dirty="0">
                          <a:solidFill>
                            <a:srgbClr val="1F2933"/>
                          </a:solidFill>
                        </a:rPr>
                        <a:t>To be determined in the meeting</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270000">
                <a:tc>
                  <a:txBody>
                    <a:bodyPr/>
                    <a:lstStyle/>
                    <a:p>
                      <a:pPr marL="0" indent="0" algn="l">
                        <a:buNone/>
                      </a:pPr>
                      <a:r>
                        <a:rPr lang="en-US" sz="900" b="1" dirty="0">
                          <a:solidFill>
                            <a:srgbClr val="1F2933"/>
                          </a:solidFill>
                        </a:rPr>
                        <a:t>NPM – no external client receivables at 30 Sep 2026</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l">
                        <a:buNone/>
                      </a:pPr>
                      <a:r>
                        <a:rPr lang="en-US" sz="900" i="1" dirty="0">
                          <a:solidFill>
                            <a:srgbClr val="1F2933"/>
                          </a:solidFill>
                        </a:rPr>
                        <a:t>–</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7" name="Text 4"/>
          <p:cNvSpPr/>
          <p:nvPr/>
        </p:nvSpPr>
        <p:spPr>
          <a:xfrm>
            <a:off x="457200" y="2810200"/>
            <a:ext cx="11274552" cy="320040"/>
          </a:xfrm>
          <a:prstGeom prst="rect">
            <a:avLst/>
          </a:prstGeom>
          <a:noFill/>
          <a:ln/>
        </p:spPr>
        <p:txBody>
          <a:bodyPr wrap="square" rtlCol="0" anchor="ctr"/>
          <a:lstStyle/>
          <a:p>
            <a:pPr marL="0" indent="0">
              <a:buNone/>
            </a:pPr>
            <a:r>
              <a:rPr lang="en-US" sz="1250" b="1" dirty="0">
                <a:solidFill>
                  <a:srgbClr val="0F6E6E"/>
                </a:solidFill>
                <a:latin typeface="Calibri" pitchFamily="34" charset="0"/>
                <a:ea typeface="Calibri" pitchFamily="34" charset="-122"/>
                <a:cs typeface="Calibri" pitchFamily="34" charset="-120"/>
              </a:rPr>
              <a:t>Fifth:  </a:t>
            </a:r>
            <a:r>
              <a:rPr lang="en-US" sz="1250" dirty="0">
                <a:solidFill>
                  <a:srgbClr val="1F2933"/>
                </a:solidFill>
                <a:latin typeface="Calibri" pitchFamily="34" charset="0"/>
                <a:ea typeface="Calibri" pitchFamily="34" charset="-122"/>
                <a:cs typeface="Calibri" pitchFamily="34" charset="-120"/>
              </a:rPr>
              <a:t>A Simple Traffic Light Dashboard — one-page view by overdue ratio and by aging Receivables</a:t>
            </a:r>
            <a:endParaRPr lang="en-US" sz="1250" dirty="0"/>
          </a:p>
        </p:txBody>
      </p:sp>
      <p:sp>
        <p:nvSpPr>
          <p:cNvPr id="8" name="Shape 5"/>
          <p:cNvSpPr/>
          <p:nvPr/>
        </p:nvSpPr>
        <p:spPr>
          <a:xfrm>
            <a:off x="457200" y="3221680"/>
            <a:ext cx="5522976" cy="960120"/>
          </a:xfrm>
          <a:prstGeom prst="rect">
            <a:avLst/>
          </a:prstGeom>
          <a:solidFill>
            <a:srgbClr val="F4F6F8"/>
          </a:solidFill>
          <a:ln w="9525">
            <a:solidFill>
              <a:srgbClr val="D9DEE4"/>
            </a:solidFill>
            <a:prstDash val="solid"/>
          </a:ln>
        </p:spPr>
        <p:txBody>
          <a:bodyPr/>
          <a:lstStyle/>
          <a:p>
            <a:endParaRPr lang="en-AE" dirty="0"/>
          </a:p>
        </p:txBody>
      </p:sp>
      <p:sp>
        <p:nvSpPr>
          <p:cNvPr id="9" name="Text 6"/>
          <p:cNvSpPr/>
          <p:nvPr/>
        </p:nvSpPr>
        <p:spPr>
          <a:xfrm>
            <a:off x="594360" y="3294832"/>
            <a:ext cx="5248656" cy="256032"/>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Overdue Ratio</a:t>
            </a:r>
            <a:endParaRPr lang="en-US" sz="1100" dirty="0"/>
          </a:p>
        </p:txBody>
      </p:sp>
      <p:sp>
        <p:nvSpPr>
          <p:cNvPr id="10" name="Shape 7"/>
          <p:cNvSpPr/>
          <p:nvPr/>
        </p:nvSpPr>
        <p:spPr>
          <a:xfrm>
            <a:off x="621792" y="3605728"/>
            <a:ext cx="128016" cy="128016"/>
          </a:xfrm>
          <a:prstGeom prst="ellipse">
            <a:avLst/>
          </a:prstGeom>
          <a:solidFill>
            <a:srgbClr val="C0392B"/>
          </a:solidFill>
          <a:ln/>
        </p:spPr>
        <p:txBody>
          <a:bodyPr/>
          <a:lstStyle/>
          <a:p>
            <a:endParaRPr lang="en-AE"/>
          </a:p>
        </p:txBody>
      </p:sp>
      <p:sp>
        <p:nvSpPr>
          <p:cNvPr id="11" name="Text 8"/>
          <p:cNvSpPr/>
          <p:nvPr/>
        </p:nvSpPr>
        <p:spPr>
          <a:xfrm>
            <a:off x="841248" y="3560008"/>
            <a:ext cx="4974336" cy="201168"/>
          </a:xfrm>
          <a:prstGeom prst="rect">
            <a:avLst/>
          </a:prstGeom>
          <a:noFill/>
          <a:ln/>
        </p:spPr>
        <p:txBody>
          <a:bodyPr wrap="square" rtlCol="0" anchor="ctr"/>
          <a:lstStyle/>
          <a:p>
            <a:pPr marL="0" indent="0">
              <a:buNone/>
            </a:pPr>
            <a:r>
              <a:rPr lang="en-US" sz="950" dirty="0">
                <a:solidFill>
                  <a:srgbClr val="1F2933"/>
                </a:solidFill>
                <a:latin typeface="Calibri" pitchFamily="34" charset="0"/>
                <a:ea typeface="Calibri" pitchFamily="34" charset="-122"/>
                <a:cs typeface="Calibri" pitchFamily="34" charset="-120"/>
              </a:rPr>
              <a:t>Exceeding 15%</a:t>
            </a:r>
            <a:endParaRPr lang="en-US" sz="950" dirty="0"/>
          </a:p>
        </p:txBody>
      </p:sp>
      <p:sp>
        <p:nvSpPr>
          <p:cNvPr id="12" name="Shape 9"/>
          <p:cNvSpPr/>
          <p:nvPr/>
        </p:nvSpPr>
        <p:spPr>
          <a:xfrm>
            <a:off x="621792" y="3802324"/>
            <a:ext cx="128016" cy="128016"/>
          </a:xfrm>
          <a:prstGeom prst="ellipse">
            <a:avLst/>
          </a:prstGeom>
          <a:solidFill>
            <a:srgbClr val="D98E1E"/>
          </a:solidFill>
          <a:ln/>
        </p:spPr>
        <p:txBody>
          <a:bodyPr/>
          <a:lstStyle/>
          <a:p>
            <a:endParaRPr lang="en-AE"/>
          </a:p>
        </p:txBody>
      </p:sp>
      <p:sp>
        <p:nvSpPr>
          <p:cNvPr id="13" name="Text 10"/>
          <p:cNvSpPr/>
          <p:nvPr/>
        </p:nvSpPr>
        <p:spPr>
          <a:xfrm>
            <a:off x="841248" y="3756604"/>
            <a:ext cx="4974336" cy="201168"/>
          </a:xfrm>
          <a:prstGeom prst="rect">
            <a:avLst/>
          </a:prstGeom>
          <a:noFill/>
          <a:ln/>
        </p:spPr>
        <p:txBody>
          <a:bodyPr wrap="square" rtlCol="0" anchor="ctr"/>
          <a:lstStyle/>
          <a:p>
            <a:pPr marL="0" indent="0">
              <a:buNone/>
            </a:pPr>
            <a:r>
              <a:rPr lang="en-US" sz="950" dirty="0">
                <a:solidFill>
                  <a:srgbClr val="1F2933"/>
                </a:solidFill>
                <a:latin typeface="Calibri" pitchFamily="34" charset="0"/>
                <a:ea typeface="Calibri" pitchFamily="34" charset="-122"/>
                <a:cs typeface="Calibri" pitchFamily="34" charset="-120"/>
              </a:rPr>
              <a:t>Between 6% and 15%</a:t>
            </a:r>
            <a:endParaRPr lang="en-US" sz="950" dirty="0"/>
          </a:p>
        </p:txBody>
      </p:sp>
      <p:sp>
        <p:nvSpPr>
          <p:cNvPr id="14" name="Shape 11"/>
          <p:cNvSpPr/>
          <p:nvPr/>
        </p:nvSpPr>
        <p:spPr>
          <a:xfrm>
            <a:off x="621792" y="3998920"/>
            <a:ext cx="128016" cy="128016"/>
          </a:xfrm>
          <a:prstGeom prst="ellipse">
            <a:avLst/>
          </a:prstGeom>
          <a:solidFill>
            <a:srgbClr val="2E8B57"/>
          </a:solidFill>
          <a:ln/>
        </p:spPr>
        <p:txBody>
          <a:bodyPr/>
          <a:lstStyle/>
          <a:p>
            <a:endParaRPr lang="en-AE"/>
          </a:p>
        </p:txBody>
      </p:sp>
      <p:sp>
        <p:nvSpPr>
          <p:cNvPr id="15" name="Text 12"/>
          <p:cNvSpPr/>
          <p:nvPr/>
        </p:nvSpPr>
        <p:spPr>
          <a:xfrm>
            <a:off x="841248" y="3953200"/>
            <a:ext cx="4974336" cy="201168"/>
          </a:xfrm>
          <a:prstGeom prst="rect">
            <a:avLst/>
          </a:prstGeom>
          <a:noFill/>
          <a:ln/>
        </p:spPr>
        <p:txBody>
          <a:bodyPr wrap="square" rtlCol="0" anchor="ctr"/>
          <a:lstStyle/>
          <a:p>
            <a:pPr marL="0" indent="0">
              <a:buNone/>
            </a:pPr>
            <a:r>
              <a:rPr lang="en-US" sz="950" dirty="0">
                <a:solidFill>
                  <a:srgbClr val="1F2933"/>
                </a:solidFill>
                <a:latin typeface="Calibri" pitchFamily="34" charset="0"/>
                <a:ea typeface="Calibri" pitchFamily="34" charset="-122"/>
                <a:cs typeface="Calibri" pitchFamily="34" charset="-120"/>
              </a:rPr>
              <a:t>Not exceeding 5%</a:t>
            </a:r>
            <a:endParaRPr lang="en-US" sz="950" dirty="0"/>
          </a:p>
        </p:txBody>
      </p:sp>
      <p:sp>
        <p:nvSpPr>
          <p:cNvPr id="16" name="Shape 13"/>
          <p:cNvSpPr/>
          <p:nvPr/>
        </p:nvSpPr>
        <p:spPr>
          <a:xfrm>
            <a:off x="6208776" y="3221680"/>
            <a:ext cx="5522976" cy="960120"/>
          </a:xfrm>
          <a:prstGeom prst="rect">
            <a:avLst/>
          </a:prstGeom>
          <a:solidFill>
            <a:srgbClr val="F4F6F8"/>
          </a:solidFill>
          <a:ln w="9525">
            <a:solidFill>
              <a:srgbClr val="D9DEE4"/>
            </a:solidFill>
            <a:prstDash val="solid"/>
          </a:ln>
        </p:spPr>
        <p:txBody>
          <a:bodyPr/>
          <a:lstStyle/>
          <a:p>
            <a:endParaRPr lang="en-AE"/>
          </a:p>
        </p:txBody>
      </p:sp>
      <p:sp>
        <p:nvSpPr>
          <p:cNvPr id="17" name="Text 14"/>
          <p:cNvSpPr/>
          <p:nvPr/>
        </p:nvSpPr>
        <p:spPr>
          <a:xfrm>
            <a:off x="6345936" y="3294832"/>
            <a:ext cx="5248656" cy="256032"/>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Receivables Aging</a:t>
            </a:r>
            <a:endParaRPr lang="en-US" sz="1100" dirty="0"/>
          </a:p>
        </p:txBody>
      </p:sp>
      <p:sp>
        <p:nvSpPr>
          <p:cNvPr id="18" name="Shape 15"/>
          <p:cNvSpPr/>
          <p:nvPr/>
        </p:nvSpPr>
        <p:spPr>
          <a:xfrm>
            <a:off x="6373368" y="3605728"/>
            <a:ext cx="128016" cy="128016"/>
          </a:xfrm>
          <a:prstGeom prst="ellipse">
            <a:avLst/>
          </a:prstGeom>
          <a:solidFill>
            <a:srgbClr val="C0392B"/>
          </a:solidFill>
          <a:ln/>
        </p:spPr>
        <p:txBody>
          <a:bodyPr/>
          <a:lstStyle/>
          <a:p>
            <a:endParaRPr lang="en-AE"/>
          </a:p>
        </p:txBody>
      </p:sp>
      <p:sp>
        <p:nvSpPr>
          <p:cNvPr id="19" name="Text 16"/>
          <p:cNvSpPr/>
          <p:nvPr/>
        </p:nvSpPr>
        <p:spPr>
          <a:xfrm>
            <a:off x="6592824" y="3560008"/>
            <a:ext cx="4974336" cy="201168"/>
          </a:xfrm>
          <a:prstGeom prst="rect">
            <a:avLst/>
          </a:prstGeom>
          <a:noFill/>
          <a:ln/>
        </p:spPr>
        <p:txBody>
          <a:bodyPr wrap="square" rtlCol="0" anchor="ctr"/>
          <a:lstStyle/>
          <a:p>
            <a:r>
              <a:rPr lang="en-US" sz="950" dirty="0">
                <a:solidFill>
                  <a:srgbClr val="1F2933"/>
                </a:solidFill>
                <a:latin typeface="Calibri" pitchFamily="34" charset="0"/>
                <a:ea typeface="Calibri" pitchFamily="34" charset="-122"/>
                <a:cs typeface="Calibri" pitchFamily="34" charset="-120"/>
              </a:rPr>
              <a:t>Over 60 days — Amount In AED          Critical</a:t>
            </a:r>
            <a:endParaRPr lang="en-US" sz="950" dirty="0"/>
          </a:p>
        </p:txBody>
      </p:sp>
      <p:sp>
        <p:nvSpPr>
          <p:cNvPr id="20" name="Shape 17"/>
          <p:cNvSpPr/>
          <p:nvPr/>
        </p:nvSpPr>
        <p:spPr>
          <a:xfrm>
            <a:off x="6373368" y="3802324"/>
            <a:ext cx="128016" cy="128016"/>
          </a:xfrm>
          <a:prstGeom prst="ellipse">
            <a:avLst/>
          </a:prstGeom>
          <a:solidFill>
            <a:srgbClr val="D98E1E"/>
          </a:solidFill>
          <a:ln/>
        </p:spPr>
        <p:txBody>
          <a:bodyPr/>
          <a:lstStyle/>
          <a:p>
            <a:endParaRPr lang="en-AE"/>
          </a:p>
        </p:txBody>
      </p:sp>
      <p:sp>
        <p:nvSpPr>
          <p:cNvPr id="21" name="Text 18"/>
          <p:cNvSpPr/>
          <p:nvPr/>
        </p:nvSpPr>
        <p:spPr>
          <a:xfrm>
            <a:off x="6592824" y="3756604"/>
            <a:ext cx="4974336" cy="201168"/>
          </a:xfrm>
          <a:prstGeom prst="rect">
            <a:avLst/>
          </a:prstGeom>
          <a:noFill/>
          <a:ln/>
        </p:spPr>
        <p:txBody>
          <a:bodyPr wrap="square" rtlCol="0" anchor="ctr"/>
          <a:lstStyle/>
          <a:p>
            <a:r>
              <a:rPr lang="en-US" sz="950" dirty="0">
                <a:solidFill>
                  <a:srgbClr val="1F2933"/>
                </a:solidFill>
                <a:latin typeface="Calibri" pitchFamily="34" charset="0"/>
                <a:ea typeface="Calibri" pitchFamily="34" charset="-122"/>
                <a:cs typeface="Calibri" pitchFamily="34" charset="-120"/>
              </a:rPr>
              <a:t>31–60 days —  Amount  In AED           Moderate</a:t>
            </a:r>
            <a:endParaRPr lang="en-US" sz="950" dirty="0"/>
          </a:p>
        </p:txBody>
      </p:sp>
      <p:sp>
        <p:nvSpPr>
          <p:cNvPr id="22" name="Shape 19"/>
          <p:cNvSpPr/>
          <p:nvPr/>
        </p:nvSpPr>
        <p:spPr>
          <a:xfrm>
            <a:off x="6373368" y="3998920"/>
            <a:ext cx="128016" cy="128016"/>
          </a:xfrm>
          <a:prstGeom prst="ellipse">
            <a:avLst/>
          </a:prstGeom>
          <a:solidFill>
            <a:srgbClr val="2E8B57"/>
          </a:solidFill>
          <a:ln/>
        </p:spPr>
        <p:txBody>
          <a:bodyPr/>
          <a:lstStyle/>
          <a:p>
            <a:endParaRPr lang="en-AE"/>
          </a:p>
        </p:txBody>
      </p:sp>
      <p:sp>
        <p:nvSpPr>
          <p:cNvPr id="23" name="Text 20"/>
          <p:cNvSpPr/>
          <p:nvPr/>
        </p:nvSpPr>
        <p:spPr>
          <a:xfrm>
            <a:off x="6592824" y="3953200"/>
            <a:ext cx="4974336" cy="201168"/>
          </a:xfrm>
          <a:prstGeom prst="rect">
            <a:avLst/>
          </a:prstGeom>
          <a:noFill/>
          <a:ln/>
        </p:spPr>
        <p:txBody>
          <a:bodyPr wrap="square" rtlCol="0" anchor="ctr"/>
          <a:lstStyle/>
          <a:p>
            <a:pPr marL="0" indent="0">
              <a:buNone/>
            </a:pPr>
            <a:r>
              <a:rPr lang="en-US" sz="950" dirty="0">
                <a:solidFill>
                  <a:srgbClr val="1F2933"/>
                </a:solidFill>
                <a:latin typeface="Calibri" pitchFamily="34" charset="0"/>
                <a:ea typeface="Calibri" pitchFamily="34" charset="-122"/>
                <a:cs typeface="Calibri" pitchFamily="34" charset="-120"/>
              </a:rPr>
              <a:t>Less than 31 days — Amount In AED  Low</a:t>
            </a:r>
            <a:endParaRPr lang="en-US" sz="950" dirty="0"/>
          </a:p>
        </p:txBody>
      </p:sp>
      <p:sp>
        <p:nvSpPr>
          <p:cNvPr id="24" name="Shape 21"/>
          <p:cNvSpPr/>
          <p:nvPr/>
        </p:nvSpPr>
        <p:spPr>
          <a:xfrm>
            <a:off x="457200" y="4364680"/>
            <a:ext cx="3605784" cy="1234440"/>
          </a:xfrm>
          <a:prstGeom prst="rect">
            <a:avLst/>
          </a:prstGeom>
          <a:solidFill>
            <a:srgbClr val="FAE7E4"/>
          </a:solidFill>
          <a:ln w="9525">
            <a:solidFill>
              <a:srgbClr val="D9DEE4"/>
            </a:solidFill>
            <a:prstDash val="solid"/>
          </a:ln>
        </p:spPr>
        <p:txBody>
          <a:bodyPr/>
          <a:lstStyle/>
          <a:p>
            <a:endParaRPr lang="en-AE"/>
          </a:p>
        </p:txBody>
      </p:sp>
      <p:sp>
        <p:nvSpPr>
          <p:cNvPr id="25" name="Text 22"/>
          <p:cNvSpPr/>
          <p:nvPr/>
        </p:nvSpPr>
        <p:spPr>
          <a:xfrm>
            <a:off x="594360" y="4456120"/>
            <a:ext cx="3331464" cy="27432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NPS</a:t>
            </a:r>
            <a:endParaRPr lang="en-US" sz="1250" dirty="0"/>
          </a:p>
        </p:txBody>
      </p:sp>
      <p:sp>
        <p:nvSpPr>
          <p:cNvPr id="26" name="Shape 23"/>
          <p:cNvSpPr/>
          <p:nvPr/>
        </p:nvSpPr>
        <p:spPr>
          <a:xfrm>
            <a:off x="3697224" y="4483552"/>
            <a:ext cx="201168" cy="201168"/>
          </a:xfrm>
          <a:prstGeom prst="ellipse">
            <a:avLst/>
          </a:prstGeom>
          <a:solidFill>
            <a:srgbClr val="C0392B"/>
          </a:solidFill>
          <a:ln/>
        </p:spPr>
        <p:txBody>
          <a:bodyPr/>
          <a:lstStyle/>
          <a:p>
            <a:endParaRPr lang="en-AE"/>
          </a:p>
        </p:txBody>
      </p:sp>
      <p:sp>
        <p:nvSpPr>
          <p:cNvPr id="27" name="Text 24"/>
          <p:cNvSpPr/>
          <p:nvPr/>
        </p:nvSpPr>
        <p:spPr>
          <a:xfrm>
            <a:off x="594360" y="4803592"/>
            <a:ext cx="3331464" cy="320040"/>
          </a:xfrm>
          <a:prstGeom prst="rect">
            <a:avLst/>
          </a:prstGeom>
          <a:noFill/>
          <a:ln/>
        </p:spPr>
        <p:txBody>
          <a:bodyPr wrap="square" rtlCol="0" anchor="ctr"/>
          <a:lstStyle/>
          <a:p>
            <a:r>
              <a:rPr lang="en-US" sz="1400" b="1" dirty="0">
                <a:solidFill>
                  <a:srgbClr val="C0392B"/>
                </a:solidFill>
                <a:latin typeface="Calibri" pitchFamily="34" charset="0"/>
                <a:ea typeface="Calibri" pitchFamily="34" charset="-122"/>
                <a:cs typeface="Calibri" pitchFamily="34" charset="-120"/>
              </a:rPr>
              <a:t>20.2%  –  Red</a:t>
            </a:r>
            <a:endParaRPr lang="en-US" sz="1400" dirty="0"/>
          </a:p>
        </p:txBody>
      </p:sp>
      <p:sp>
        <p:nvSpPr>
          <p:cNvPr id="28" name="Text 25"/>
          <p:cNvSpPr/>
          <p:nvPr/>
        </p:nvSpPr>
        <p:spPr>
          <a:xfrm>
            <a:off x="594360" y="5169352"/>
            <a:ext cx="3331464" cy="365760"/>
          </a:xfrm>
          <a:prstGeom prst="rect">
            <a:avLst/>
          </a:prstGeom>
          <a:noFill/>
          <a:ln/>
        </p:spPr>
        <p:txBody>
          <a:bodyPr wrap="square" rtlCol="0" anchor="ctr"/>
          <a:lstStyle/>
          <a:p>
            <a:pPr marL="0" indent="0">
              <a:buNone/>
            </a:pPr>
            <a:r>
              <a:rPr lang="en-US" sz="880" dirty="0">
                <a:solidFill>
                  <a:srgbClr val="5A6472"/>
                </a:solidFill>
                <a:latin typeface="Calibri" pitchFamily="34" charset="0"/>
                <a:ea typeface="Calibri" pitchFamily="34" charset="-122"/>
                <a:cs typeface="Calibri" pitchFamily="34" charset="-120"/>
              </a:rPr>
              <a:t>Over 60d: 0.19m  |  31–60d: –  |  &lt;31d: 0.74m  |  Total: 0.93m</a:t>
            </a:r>
            <a:endParaRPr lang="en-US" sz="880" dirty="0"/>
          </a:p>
        </p:txBody>
      </p:sp>
      <p:sp>
        <p:nvSpPr>
          <p:cNvPr id="29" name="Shape 26"/>
          <p:cNvSpPr/>
          <p:nvPr/>
        </p:nvSpPr>
        <p:spPr>
          <a:xfrm>
            <a:off x="4291584" y="4364680"/>
            <a:ext cx="3605784" cy="1234440"/>
          </a:xfrm>
          <a:prstGeom prst="rect">
            <a:avLst/>
          </a:prstGeom>
          <a:solidFill>
            <a:srgbClr val="E7F3EC"/>
          </a:solidFill>
          <a:ln w="9525">
            <a:solidFill>
              <a:srgbClr val="D9DEE4"/>
            </a:solidFill>
            <a:prstDash val="solid"/>
          </a:ln>
        </p:spPr>
        <p:txBody>
          <a:bodyPr/>
          <a:lstStyle/>
          <a:p>
            <a:endParaRPr lang="en-AE"/>
          </a:p>
        </p:txBody>
      </p:sp>
      <p:sp>
        <p:nvSpPr>
          <p:cNvPr id="30" name="Text 27"/>
          <p:cNvSpPr/>
          <p:nvPr/>
        </p:nvSpPr>
        <p:spPr>
          <a:xfrm>
            <a:off x="4428744" y="4456120"/>
            <a:ext cx="3331464" cy="27432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NPM</a:t>
            </a:r>
            <a:endParaRPr lang="en-US" sz="1250" dirty="0"/>
          </a:p>
        </p:txBody>
      </p:sp>
      <p:sp>
        <p:nvSpPr>
          <p:cNvPr id="31" name="Shape 28"/>
          <p:cNvSpPr/>
          <p:nvPr/>
        </p:nvSpPr>
        <p:spPr>
          <a:xfrm>
            <a:off x="7531608" y="4483552"/>
            <a:ext cx="201168" cy="201168"/>
          </a:xfrm>
          <a:prstGeom prst="ellipse">
            <a:avLst/>
          </a:prstGeom>
          <a:solidFill>
            <a:srgbClr val="2E8B57"/>
          </a:solidFill>
          <a:ln/>
        </p:spPr>
        <p:txBody>
          <a:bodyPr/>
          <a:lstStyle/>
          <a:p>
            <a:endParaRPr lang="en-AE"/>
          </a:p>
        </p:txBody>
      </p:sp>
      <p:sp>
        <p:nvSpPr>
          <p:cNvPr id="32" name="Text 29"/>
          <p:cNvSpPr/>
          <p:nvPr/>
        </p:nvSpPr>
        <p:spPr>
          <a:xfrm>
            <a:off x="4428744" y="4803592"/>
            <a:ext cx="3331464" cy="320040"/>
          </a:xfrm>
          <a:prstGeom prst="rect">
            <a:avLst/>
          </a:prstGeom>
          <a:noFill/>
          <a:ln/>
        </p:spPr>
        <p:txBody>
          <a:bodyPr wrap="square" rtlCol="0" anchor="ctr"/>
          <a:lstStyle/>
          <a:p>
            <a:pPr marL="0" indent="0">
              <a:buNone/>
            </a:pPr>
            <a:r>
              <a:rPr lang="en-US" sz="1400" b="1" dirty="0">
                <a:solidFill>
                  <a:srgbClr val="2E8B57"/>
                </a:solidFill>
                <a:latin typeface="Calibri" pitchFamily="34" charset="0"/>
                <a:ea typeface="Calibri" pitchFamily="34" charset="-122"/>
                <a:cs typeface="Calibri" pitchFamily="34" charset="-120"/>
              </a:rPr>
              <a:t>0.0%  –  Green</a:t>
            </a:r>
            <a:endParaRPr lang="en-US" sz="1400" dirty="0"/>
          </a:p>
        </p:txBody>
      </p:sp>
      <p:sp>
        <p:nvSpPr>
          <p:cNvPr id="33" name="Text 30"/>
          <p:cNvSpPr/>
          <p:nvPr/>
        </p:nvSpPr>
        <p:spPr>
          <a:xfrm>
            <a:off x="4428744" y="5169352"/>
            <a:ext cx="3331464" cy="365760"/>
          </a:xfrm>
          <a:prstGeom prst="rect">
            <a:avLst/>
          </a:prstGeom>
          <a:noFill/>
          <a:ln/>
        </p:spPr>
        <p:txBody>
          <a:bodyPr wrap="square" rtlCol="0" anchor="ctr"/>
          <a:lstStyle/>
          <a:p>
            <a:pPr marL="0" indent="0">
              <a:buNone/>
            </a:pPr>
            <a:r>
              <a:rPr lang="en-US" sz="880" dirty="0">
                <a:solidFill>
                  <a:srgbClr val="5A6472"/>
                </a:solidFill>
                <a:latin typeface="Calibri" pitchFamily="34" charset="0"/>
                <a:ea typeface="Calibri" pitchFamily="34" charset="-122"/>
                <a:cs typeface="Calibri" pitchFamily="34" charset="-120"/>
              </a:rPr>
              <a:t>Over 60d: –  |  31–60d: –  |  &lt;31d: –  |  Total: –</a:t>
            </a:r>
            <a:endParaRPr lang="en-US" sz="880" dirty="0"/>
          </a:p>
        </p:txBody>
      </p:sp>
      <p:sp>
        <p:nvSpPr>
          <p:cNvPr id="34" name="Shape 31"/>
          <p:cNvSpPr/>
          <p:nvPr/>
        </p:nvSpPr>
        <p:spPr>
          <a:xfrm>
            <a:off x="8125968" y="4364680"/>
            <a:ext cx="3605784" cy="1234440"/>
          </a:xfrm>
          <a:prstGeom prst="rect">
            <a:avLst/>
          </a:prstGeom>
          <a:solidFill>
            <a:srgbClr val="FAE7E4"/>
          </a:solidFill>
          <a:ln w="9525">
            <a:solidFill>
              <a:srgbClr val="D9DEE4"/>
            </a:solidFill>
            <a:prstDash val="solid"/>
          </a:ln>
        </p:spPr>
        <p:txBody>
          <a:bodyPr/>
          <a:lstStyle/>
          <a:p>
            <a:endParaRPr lang="en-AE"/>
          </a:p>
        </p:txBody>
      </p:sp>
      <p:sp>
        <p:nvSpPr>
          <p:cNvPr id="35" name="Text 32"/>
          <p:cNvSpPr/>
          <p:nvPr/>
        </p:nvSpPr>
        <p:spPr>
          <a:xfrm>
            <a:off x="8263128" y="4456120"/>
            <a:ext cx="3331464" cy="27432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Group Total</a:t>
            </a:r>
            <a:endParaRPr lang="en-US" sz="1250" dirty="0"/>
          </a:p>
        </p:txBody>
      </p:sp>
      <p:sp>
        <p:nvSpPr>
          <p:cNvPr id="36" name="Shape 33"/>
          <p:cNvSpPr/>
          <p:nvPr/>
        </p:nvSpPr>
        <p:spPr>
          <a:xfrm>
            <a:off x="11365992" y="4483552"/>
            <a:ext cx="201168" cy="201168"/>
          </a:xfrm>
          <a:prstGeom prst="ellipse">
            <a:avLst/>
          </a:prstGeom>
          <a:solidFill>
            <a:srgbClr val="C0392B"/>
          </a:solidFill>
          <a:ln/>
        </p:spPr>
        <p:txBody>
          <a:bodyPr/>
          <a:lstStyle/>
          <a:p>
            <a:endParaRPr lang="en-AE"/>
          </a:p>
        </p:txBody>
      </p:sp>
      <p:sp>
        <p:nvSpPr>
          <p:cNvPr id="37" name="Text 34"/>
          <p:cNvSpPr/>
          <p:nvPr/>
        </p:nvSpPr>
        <p:spPr>
          <a:xfrm>
            <a:off x="8263128" y="4803592"/>
            <a:ext cx="3331464" cy="320040"/>
          </a:xfrm>
          <a:prstGeom prst="rect">
            <a:avLst/>
          </a:prstGeom>
          <a:noFill/>
          <a:ln/>
        </p:spPr>
        <p:txBody>
          <a:bodyPr wrap="square" rtlCol="0" anchor="ctr"/>
          <a:lstStyle/>
          <a:p>
            <a:r>
              <a:rPr lang="en-US" sz="1400" b="1" dirty="0">
                <a:solidFill>
                  <a:srgbClr val="C0392B"/>
                </a:solidFill>
                <a:latin typeface="Calibri" pitchFamily="34" charset="0"/>
                <a:ea typeface="Calibri" pitchFamily="34" charset="-122"/>
                <a:cs typeface="Calibri" pitchFamily="34" charset="-120"/>
              </a:rPr>
              <a:t>20.2%  –  Red</a:t>
            </a:r>
            <a:endParaRPr lang="en-US" sz="1400" dirty="0"/>
          </a:p>
        </p:txBody>
      </p:sp>
      <p:sp>
        <p:nvSpPr>
          <p:cNvPr id="38" name="Text 35"/>
          <p:cNvSpPr/>
          <p:nvPr/>
        </p:nvSpPr>
        <p:spPr>
          <a:xfrm>
            <a:off x="8263128" y="5169352"/>
            <a:ext cx="3331464" cy="365760"/>
          </a:xfrm>
          <a:prstGeom prst="rect">
            <a:avLst/>
          </a:prstGeom>
          <a:noFill/>
          <a:ln/>
        </p:spPr>
        <p:txBody>
          <a:bodyPr wrap="square" rtlCol="0" anchor="ctr"/>
          <a:lstStyle/>
          <a:p>
            <a:pPr marL="0" indent="0">
              <a:buNone/>
            </a:pPr>
            <a:r>
              <a:rPr lang="en-US" sz="880" dirty="0">
                <a:solidFill>
                  <a:srgbClr val="5A6472"/>
                </a:solidFill>
                <a:latin typeface="Calibri" pitchFamily="34" charset="0"/>
                <a:ea typeface="Calibri" pitchFamily="34" charset="-122"/>
                <a:cs typeface="Calibri" pitchFamily="34" charset="-120"/>
              </a:rPr>
              <a:t>Over 60d: 0.19m  |  31–60d: –  |  &lt;31d: 0.74m  |  Total: 0.93m</a:t>
            </a:r>
            <a:endParaRPr lang="en-US" sz="880" dirty="0"/>
          </a:p>
        </p:txBody>
      </p:sp>
      <p:sp>
        <p:nvSpPr>
          <p:cNvPr id="39" name="Text 36"/>
          <p:cNvSpPr/>
          <p:nvPr/>
        </p:nvSpPr>
        <p:spPr>
          <a:xfrm>
            <a:off x="457200" y="5653984"/>
            <a:ext cx="11274552" cy="380000"/>
          </a:xfrm>
          <a:prstGeom prst="rect">
            <a:avLst/>
          </a:prstGeom>
          <a:noFill/>
          <a:ln/>
        </p:spPr>
        <p:txBody>
          <a:bodyPr wrap="square" rtlCol="0" anchor="ctr"/>
          <a:lstStyle/>
          <a:p>
            <a:pPr marL="0" indent="0">
              <a:buNone/>
            </a:pPr>
            <a:r>
              <a:rPr lang="en-US" sz="850" i="1" dirty="0">
                <a:solidFill>
                  <a:srgbClr val="5A6472"/>
                </a:solidFill>
                <a:latin typeface="Calibri" pitchFamily="34" charset="0"/>
                <a:ea typeface="Calibri" pitchFamily="34" charset="-122"/>
                <a:cs typeface="Calibri" pitchFamily="34" charset="-120"/>
              </a:rPr>
              <a:t>Overdue ratio and aging cover external client receivables only, net of collections to 16 Oct 2026. Reason, Responsible, Action and Expected Date to be completed in the meeting.</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chemeClr val="bg1">
              <a:lumMod val="65000"/>
            </a:schemeClr>
          </a:solidFill>
          <a:ln/>
        </p:spPr>
        <p:txBody>
          <a:bodyPr/>
          <a:lstStyle/>
          <a:p>
            <a:endParaRPr lang="en-AE"/>
          </a:p>
        </p:txBody>
      </p:sp>
      <p:sp>
        <p:nvSpPr>
          <p:cNvPr id="3" name="Text 1"/>
          <p:cNvSpPr/>
          <p:nvPr/>
        </p:nvSpPr>
        <p:spPr>
          <a:xfrm>
            <a:off x="457200" y="0"/>
            <a:ext cx="10058400" cy="8686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Monthly Dashboard &amp; Performance Measurement – Intercompany</a:t>
            </a:r>
            <a:endParaRPr lang="en-US" sz="2000" dirty="0"/>
          </a:p>
        </p:txBody>
      </p:sp>
      <p:sp>
        <p:nvSpPr>
          <p:cNvPr id="4" name="Text 2"/>
          <p:cNvSpPr/>
          <p:nvPr/>
        </p:nvSpPr>
        <p:spPr>
          <a:xfrm>
            <a:off x="10424160" y="0"/>
            <a:ext cx="1325880" cy="868680"/>
          </a:xfrm>
          <a:prstGeom prst="rect">
            <a:avLst/>
          </a:prstGeom>
          <a:noFill/>
          <a:ln/>
        </p:spPr>
        <p:txBody>
          <a:bodyPr wrap="square" rtlCol="0" anchor="ctr"/>
          <a:lstStyle/>
          <a:p>
            <a:pPr marL="0" indent="0" algn="r">
              <a:buNone/>
            </a:pPr>
            <a:r>
              <a:rPr lang="en-US" sz="1050" b="1" dirty="0">
                <a:solidFill>
                  <a:srgbClr val="E6F1F1"/>
                </a:solidFill>
                <a:latin typeface="Calibri" pitchFamily="34" charset="0"/>
                <a:ea typeface="Calibri" pitchFamily="34" charset="-122"/>
                <a:cs typeface="Calibri" pitchFamily="34" charset="-120"/>
              </a:rPr>
              <a:t>SECTION 1 – 3</a:t>
            </a:r>
            <a:endParaRPr lang="en-US" sz="1050" dirty="0"/>
          </a:p>
        </p:txBody>
      </p:sp>
      <p:sp>
        <p:nvSpPr>
          <p:cNvPr id="5" name="Text 3"/>
          <p:cNvSpPr/>
          <p:nvPr/>
        </p:nvSpPr>
        <p:spPr>
          <a:xfrm>
            <a:off x="457200" y="1024128"/>
            <a:ext cx="11274552" cy="347472"/>
          </a:xfrm>
          <a:prstGeom prst="rect">
            <a:avLst/>
          </a:prstGeom>
          <a:noFill/>
          <a:ln/>
        </p:spPr>
        <p:txBody>
          <a:bodyPr wrap="square" rtlCol="0" anchor="ctr"/>
          <a:lstStyle/>
          <a:p>
            <a:pPr marL="0" indent="0">
              <a:buNone/>
            </a:pPr>
            <a:r>
              <a:rPr lang="en-US" sz="1250" b="1" dirty="0">
                <a:solidFill>
                  <a:srgbClr val="0F6E6E"/>
                </a:solidFill>
                <a:latin typeface="Calibri" pitchFamily="34" charset="0"/>
                <a:ea typeface="Calibri" pitchFamily="34" charset="-122"/>
                <a:cs typeface="Calibri" pitchFamily="34" charset="-120"/>
              </a:rPr>
              <a:t>First:  </a:t>
            </a:r>
            <a:r>
              <a:rPr lang="en-US" sz="1250" dirty="0">
                <a:solidFill>
                  <a:srgbClr val="1F2933"/>
                </a:solidFill>
                <a:latin typeface="Calibri" pitchFamily="34" charset="0"/>
                <a:ea typeface="Calibri" pitchFamily="34" charset="-122"/>
                <a:cs typeface="Calibri" pitchFamily="34" charset="-120"/>
              </a:rPr>
              <a:t>A unified monthly Dashboard, consolidated from each subsidiary’s brief report, presented at the holding company’s periodic meeting</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053594512"/>
              </p:ext>
            </p:extLst>
          </p:nvPr>
        </p:nvGraphicFramePr>
        <p:xfrm>
          <a:off x="457199" y="1417320"/>
          <a:ext cx="11274552" cy="1949958"/>
        </p:xfrm>
        <a:graphic>
          <a:graphicData uri="http://schemas.openxmlformats.org/drawingml/2006/table">
            <a:tbl>
              <a:tblPr/>
              <a:tblGrid>
                <a:gridCol w="1147604">
                  <a:extLst>
                    <a:ext uri="{9D8B030D-6E8A-4147-A177-3AD203B41FA5}">
                      <a16:colId xmlns:a16="http://schemas.microsoft.com/office/drawing/2014/main" val="20000"/>
                    </a:ext>
                  </a:extLst>
                </a:gridCol>
                <a:gridCol w="1243968">
                  <a:extLst>
                    <a:ext uri="{9D8B030D-6E8A-4147-A177-3AD203B41FA5}">
                      <a16:colId xmlns:a16="http://schemas.microsoft.com/office/drawing/2014/main" val="20001"/>
                    </a:ext>
                  </a:extLst>
                </a:gridCol>
                <a:gridCol w="1106430">
                  <a:extLst>
                    <a:ext uri="{9D8B030D-6E8A-4147-A177-3AD203B41FA5}">
                      <a16:colId xmlns:a16="http://schemas.microsoft.com/office/drawing/2014/main" val="20002"/>
                    </a:ext>
                  </a:extLst>
                </a:gridCol>
                <a:gridCol w="1040728">
                  <a:extLst>
                    <a:ext uri="{9D8B030D-6E8A-4147-A177-3AD203B41FA5}">
                      <a16:colId xmlns:a16="http://schemas.microsoft.com/office/drawing/2014/main" val="20003"/>
                    </a:ext>
                  </a:extLst>
                </a:gridCol>
                <a:gridCol w="963637">
                  <a:extLst>
                    <a:ext uri="{9D8B030D-6E8A-4147-A177-3AD203B41FA5}">
                      <a16:colId xmlns:a16="http://schemas.microsoft.com/office/drawing/2014/main" val="20004"/>
                    </a:ext>
                  </a:extLst>
                </a:gridCol>
                <a:gridCol w="1011819">
                  <a:extLst>
                    <a:ext uri="{9D8B030D-6E8A-4147-A177-3AD203B41FA5}">
                      <a16:colId xmlns:a16="http://schemas.microsoft.com/office/drawing/2014/main" val="20005"/>
                    </a:ext>
                  </a:extLst>
                </a:gridCol>
                <a:gridCol w="963637">
                  <a:extLst>
                    <a:ext uri="{9D8B030D-6E8A-4147-A177-3AD203B41FA5}">
                      <a16:colId xmlns:a16="http://schemas.microsoft.com/office/drawing/2014/main" val="20006"/>
                    </a:ext>
                  </a:extLst>
                </a:gridCol>
                <a:gridCol w="963637">
                  <a:extLst>
                    <a:ext uri="{9D8B030D-6E8A-4147-A177-3AD203B41FA5}">
                      <a16:colId xmlns:a16="http://schemas.microsoft.com/office/drawing/2014/main" val="20007"/>
                    </a:ext>
                  </a:extLst>
                </a:gridCol>
                <a:gridCol w="1040728">
                  <a:extLst>
                    <a:ext uri="{9D8B030D-6E8A-4147-A177-3AD203B41FA5}">
                      <a16:colId xmlns:a16="http://schemas.microsoft.com/office/drawing/2014/main" val="20008"/>
                    </a:ext>
                  </a:extLst>
                </a:gridCol>
                <a:gridCol w="896182">
                  <a:extLst>
                    <a:ext uri="{9D8B030D-6E8A-4147-A177-3AD203B41FA5}">
                      <a16:colId xmlns:a16="http://schemas.microsoft.com/office/drawing/2014/main" val="20009"/>
                    </a:ext>
                  </a:extLst>
                </a:gridCol>
                <a:gridCol w="896182">
                  <a:extLst>
                    <a:ext uri="{9D8B030D-6E8A-4147-A177-3AD203B41FA5}">
                      <a16:colId xmlns:a16="http://schemas.microsoft.com/office/drawing/2014/main" val="20010"/>
                    </a:ext>
                  </a:extLst>
                </a:gridCol>
              </a:tblGrid>
              <a:tr h="354330">
                <a:tc>
                  <a:txBody>
                    <a:bodyPr/>
                    <a:lstStyle/>
                    <a:p>
                      <a:pPr marL="0" indent="0" algn="ctr">
                        <a:buNone/>
                      </a:pPr>
                      <a:r>
                        <a:rPr lang="en-US" sz="860" b="1" dirty="0">
                          <a:solidFill>
                            <a:srgbClr val="FFFFFF"/>
                          </a:solidFill>
                        </a:rPr>
                        <a:t>Subsidiary (Intercompany)</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Due for</a:t>
                      </a:r>
                      <a:endParaRPr lang="en-US" sz="860" dirty="0"/>
                    </a:p>
                    <a:p>
                      <a:pPr marL="0" marR="0" indent="0" algn="ctr" defTabSz="914400" rtl="0" eaLnBrk="1" latinLnBrk="0" hangingPunct="1">
                        <a:lnSpc>
                          <a:spcPct val="100000"/>
                        </a:lnSpc>
                        <a:spcBef>
                          <a:spcPts val="0"/>
                        </a:spcBef>
                        <a:spcAft>
                          <a:spcPts val="0"/>
                        </a:spcAft>
                        <a:buNone/>
                      </a:pPr>
                      <a:r>
                        <a:rPr lang="en-US" sz="860" b="1" dirty="0">
                          <a:solidFill>
                            <a:srgbClr val="FFFFFF"/>
                          </a:solidFill>
                        </a:rPr>
                        <a:t>Collection during Sep (A</a:t>
                      </a:r>
                      <a:r>
                        <a:rPr lang="en-AE" sz="860" b="1" kern="1200" dirty="0">
                          <a:solidFill>
                            <a:srgbClr val="FFFFFF"/>
                          </a:solidFill>
                          <a:latin typeface="+mn-lt"/>
                          <a:ea typeface="+mn-ea"/>
                          <a:cs typeface="+mn-cs"/>
                        </a:rPr>
                        <a:t>mounts outstanding up to Aug 2026)</a:t>
                      </a:r>
                      <a:endParaRPr lang="en-US" sz="860" b="1" kern="1200" dirty="0">
                        <a:solidFill>
                          <a:srgbClr val="FFFFFF"/>
                        </a:solidFill>
                        <a:latin typeface="+mn-lt"/>
                        <a:ea typeface="+mn-ea"/>
                        <a:cs typeface="+mn-cs"/>
                      </a:endParaRPr>
                    </a:p>
                    <a:p>
                      <a:pPr marL="0" marR="0" indent="0" algn="ctr" defTabSz="914400" rtl="0" eaLnBrk="1" latinLnBrk="0" hangingPunct="1">
                        <a:lnSpc>
                          <a:spcPct val="107000"/>
                        </a:lnSpc>
                        <a:spcBef>
                          <a:spcPts val="0"/>
                        </a:spcBef>
                        <a:spcAft>
                          <a:spcPts val="0"/>
                        </a:spcAft>
                        <a:buNone/>
                      </a:pPr>
                      <a:r>
                        <a:rPr lang="en-US" sz="860" b="1" kern="1200" dirty="0">
                          <a:solidFill>
                            <a:srgbClr val="FFFFFF"/>
                          </a:solidFill>
                          <a:latin typeface="+mn-lt"/>
                          <a:ea typeface="+mn-ea"/>
                          <a:cs typeface="+mn-cs"/>
                        </a:rPr>
                        <a:t>AED</a:t>
                      </a:r>
                    </a:p>
                    <a:p>
                      <a:pPr marL="0" indent="0" algn="ctr">
                        <a:buNone/>
                      </a:pP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Amount Collected</a:t>
                      </a:r>
                      <a:endParaRPr lang="en-US" sz="860" dirty="0"/>
                    </a:p>
                    <a:p>
                      <a:pPr marL="0" indent="0" algn="ctr">
                        <a:buNone/>
                      </a:pPr>
                      <a:r>
                        <a:rPr lang="en-US" sz="860" b="1" dirty="0">
                          <a:solidFill>
                            <a:srgbClr val="FFFFFF"/>
                          </a:solidFill>
                        </a:rPr>
                        <a:t>in Sep</a:t>
                      </a:r>
                    </a:p>
                    <a:p>
                      <a:pPr marL="0" indent="0" algn="ctr">
                        <a:buNone/>
                      </a:pPr>
                      <a:r>
                        <a:rPr lang="en-US" sz="860" b="1" dirty="0">
                          <a:solidFill>
                            <a:srgbClr val="FFFFFF"/>
                          </a:solidFill>
                        </a:rPr>
                        <a:t>AED</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Total</a:t>
                      </a:r>
                      <a:endParaRPr lang="en-US" sz="860" dirty="0"/>
                    </a:p>
                    <a:p>
                      <a:pPr marL="0" indent="0" algn="ctr">
                        <a:buNone/>
                      </a:pPr>
                      <a:r>
                        <a:rPr lang="en-US" sz="860" b="1" dirty="0">
                          <a:solidFill>
                            <a:srgbClr val="FFFFFF"/>
                          </a:solidFill>
                        </a:rPr>
                        <a:t>Outstanding as of 30 Sep 2026</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0–30 days</a:t>
                      </a:r>
                      <a:endParaRPr lang="en-US" sz="860" dirty="0"/>
                    </a:p>
                    <a:p>
                      <a:pPr marL="0" indent="0" algn="ctr">
                        <a:buNone/>
                      </a:pPr>
                      <a:r>
                        <a:rPr lang="en-US" sz="860" b="1" dirty="0">
                          <a:solidFill>
                            <a:srgbClr val="FFFFFF"/>
                          </a:solidFill>
                        </a:rPr>
                        <a:t>No risk</a:t>
                      </a:r>
                    </a:p>
                    <a:p>
                      <a:pPr marL="0" indent="0" algn="ctr">
                        <a:buNone/>
                      </a:pPr>
                      <a:r>
                        <a:rPr lang="en-US" sz="860" b="1" dirty="0">
                          <a:solidFill>
                            <a:srgbClr val="FFFFFF"/>
                          </a:solidFill>
                        </a:rPr>
                        <a:t>AED</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31–60 days</a:t>
                      </a:r>
                      <a:endParaRPr lang="en-US" sz="860" dirty="0"/>
                    </a:p>
                    <a:p>
                      <a:pPr marL="0" indent="0" algn="ctr">
                        <a:buNone/>
                      </a:pPr>
                      <a:r>
                        <a:rPr lang="en-US" sz="860" b="1" dirty="0">
                          <a:solidFill>
                            <a:srgbClr val="FFFFFF"/>
                          </a:solidFill>
                        </a:rPr>
                        <a:t>Moderate</a:t>
                      </a:r>
                    </a:p>
                    <a:p>
                      <a:pPr marL="0" indent="0" algn="ctr">
                        <a:buNone/>
                      </a:pPr>
                      <a:r>
                        <a:rPr lang="en-US" sz="860" b="1" dirty="0">
                          <a:solidFill>
                            <a:srgbClr val="FFFFFF"/>
                          </a:solidFill>
                        </a:rPr>
                        <a:t>AED</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61–90 days</a:t>
                      </a:r>
                      <a:endParaRPr lang="en-US" sz="860" dirty="0"/>
                    </a:p>
                    <a:p>
                      <a:pPr marL="0" indent="0" algn="ctr">
                        <a:buNone/>
                      </a:pPr>
                      <a:r>
                        <a:rPr lang="en-US" sz="860" b="1" dirty="0">
                          <a:solidFill>
                            <a:srgbClr val="FFFFFF"/>
                          </a:solidFill>
                        </a:rPr>
                        <a:t>High risk</a:t>
                      </a:r>
                    </a:p>
                    <a:p>
                      <a:pPr marL="0" indent="0" algn="ctr">
                        <a:buNone/>
                      </a:pPr>
                      <a:r>
                        <a:rPr lang="en-US" sz="860" b="1" dirty="0">
                          <a:solidFill>
                            <a:srgbClr val="FFFFFF"/>
                          </a:solidFill>
                        </a:rPr>
                        <a:t>AED</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+91 days</a:t>
                      </a:r>
                      <a:endParaRPr lang="en-US" sz="860" dirty="0"/>
                    </a:p>
                    <a:p>
                      <a:pPr marL="0" indent="0" algn="ctr">
                        <a:buNone/>
                      </a:pPr>
                      <a:r>
                        <a:rPr lang="en-US" sz="860" b="1" dirty="0">
                          <a:solidFill>
                            <a:srgbClr val="FFFFFF"/>
                          </a:solidFill>
                        </a:rPr>
                        <a:t>Very high</a:t>
                      </a:r>
                    </a:p>
                    <a:p>
                      <a:pPr marL="0" indent="0" algn="ctr">
                        <a:buNone/>
                      </a:pPr>
                      <a:r>
                        <a:rPr lang="en-US" sz="860" b="1" dirty="0">
                          <a:solidFill>
                            <a:srgbClr val="FFFFFF"/>
                          </a:solidFill>
                        </a:rPr>
                        <a:t>AED</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Overdue amounts as of 30 Sep 2026</a:t>
                      </a:r>
                      <a:endParaRPr lang="en-US" sz="860" dirty="0"/>
                    </a:p>
                    <a:p>
                      <a:pPr marL="0" indent="0" algn="ctr">
                        <a:buNone/>
                      </a:pPr>
                      <a:r>
                        <a:rPr lang="en-US" sz="860" b="1" dirty="0">
                          <a:solidFill>
                            <a:srgbClr val="FFFFFF"/>
                          </a:solidFill>
                        </a:rPr>
                        <a:t>(61+ days) </a:t>
                      </a:r>
                    </a:p>
                    <a:p>
                      <a:pPr marL="0" indent="0" algn="ctr">
                        <a:buNone/>
                      </a:pPr>
                      <a:r>
                        <a:rPr lang="en-US" sz="860" b="1" dirty="0">
                          <a:solidFill>
                            <a:srgbClr val="FFFFFF"/>
                          </a:solidFill>
                        </a:rPr>
                        <a:t>AED</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Collection</a:t>
                      </a:r>
                      <a:endParaRPr lang="en-US" sz="860" dirty="0"/>
                    </a:p>
                    <a:p>
                      <a:pPr marL="0" indent="0" algn="ctr">
                        <a:buNone/>
                      </a:pPr>
                      <a:r>
                        <a:rPr lang="en-US" sz="860" b="1" dirty="0">
                          <a:solidFill>
                            <a:srgbClr val="FFFFFF"/>
                          </a:solidFill>
                        </a:rPr>
                        <a:t>Rate</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860" b="1" dirty="0">
                          <a:solidFill>
                            <a:srgbClr val="FFFFFF"/>
                          </a:solidFill>
                        </a:rPr>
                        <a:t>Overdue</a:t>
                      </a:r>
                      <a:endParaRPr lang="en-US" sz="860" dirty="0"/>
                    </a:p>
                    <a:p>
                      <a:pPr marL="0" indent="0" algn="ctr">
                        <a:buNone/>
                      </a:pPr>
                      <a:r>
                        <a:rPr lang="en-US" sz="860" b="1" dirty="0">
                          <a:solidFill>
                            <a:srgbClr val="FFFFFF"/>
                          </a:solidFill>
                        </a:rPr>
                        <a:t>Rate</a:t>
                      </a:r>
                      <a:endParaRPr lang="en-US" sz="86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354330">
                <a:tc>
                  <a:txBody>
                    <a:bodyPr/>
                    <a:lstStyle/>
                    <a:p>
                      <a:pPr marL="0" indent="0" algn="l">
                        <a:buNone/>
                      </a:pPr>
                      <a:r>
                        <a:rPr lang="en-US" sz="900" b="1" dirty="0">
                          <a:solidFill>
                            <a:srgbClr val="1F2933"/>
                          </a:solidFill>
                        </a:rPr>
                        <a:t>NPS</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3.06m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1.90m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3.71m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3.17m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0.04m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0.01m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0.49m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0.50m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62%</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13%</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4330">
                <a:tc>
                  <a:txBody>
                    <a:bodyPr/>
                    <a:lstStyle/>
                    <a:p>
                      <a:pPr marL="0" indent="0" algn="l">
                        <a:buNone/>
                      </a:pPr>
                      <a:r>
                        <a:rPr lang="en-US" sz="900" b="1" dirty="0">
                          <a:solidFill>
                            <a:srgbClr val="1F2933"/>
                          </a:solidFill>
                        </a:rPr>
                        <a:t>NPM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13.98m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7.65m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10.67m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7.25m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0.19m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0.26m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2.96m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3.23m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55%</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30%</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354330">
                <a:tc>
                  <a:txBody>
                    <a:bodyPr/>
                    <a:lstStyle/>
                    <a:p>
                      <a:pPr marL="0" indent="0" algn="l">
                        <a:buNone/>
                      </a:pPr>
                      <a:r>
                        <a:rPr lang="en-US" sz="900" b="1" dirty="0">
                          <a:solidFill>
                            <a:srgbClr val="1B2A4A"/>
                          </a:solidFill>
                        </a:rPr>
                        <a:t>Total</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17.04m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9.55m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14.38m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10.41m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0.23m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0.28m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3.45m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3.73m</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56%</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tc>
                  <a:txBody>
                    <a:bodyPr/>
                    <a:lstStyle/>
                    <a:p>
                      <a:pPr marL="0" indent="0" algn="ctr">
                        <a:buNone/>
                      </a:pPr>
                      <a:r>
                        <a:rPr lang="en-US" sz="900" b="1" dirty="0">
                          <a:solidFill>
                            <a:srgbClr val="1B2A4A"/>
                          </a:solidFill>
                        </a:rPr>
                        <a:t>26%</a:t>
                      </a:r>
                      <a:endParaRPr lang="en-US" sz="90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E6F1F1"/>
                    </a:solidFill>
                  </a:tcPr>
                </a:tc>
                <a:extLst>
                  <a:ext uri="{0D108BD9-81ED-4DB2-BD59-A6C34878D82A}">
                    <a16:rowId xmlns:a16="http://schemas.microsoft.com/office/drawing/2014/main" val="10003"/>
                  </a:ext>
                </a:extLst>
              </a:tr>
            </a:tbl>
          </a:graphicData>
        </a:graphic>
      </p:graphicFrame>
      <p:sp>
        <p:nvSpPr>
          <p:cNvPr id="7" name="Shape 4"/>
          <p:cNvSpPr/>
          <p:nvPr/>
        </p:nvSpPr>
        <p:spPr>
          <a:xfrm>
            <a:off x="457200" y="3672564"/>
            <a:ext cx="11274552" cy="457200"/>
          </a:xfrm>
          <a:prstGeom prst="rect">
            <a:avLst/>
          </a:prstGeom>
          <a:solidFill>
            <a:srgbClr val="F4F6F8"/>
          </a:solidFill>
          <a:ln/>
        </p:spPr>
        <p:txBody>
          <a:bodyPr/>
          <a:lstStyle/>
          <a:p>
            <a:endParaRPr lang="en-AE"/>
          </a:p>
        </p:txBody>
      </p:sp>
      <p:sp>
        <p:nvSpPr>
          <p:cNvPr id="8" name="Text 5"/>
          <p:cNvSpPr/>
          <p:nvPr/>
        </p:nvSpPr>
        <p:spPr>
          <a:xfrm>
            <a:off x="640080" y="3672564"/>
            <a:ext cx="10908792" cy="457200"/>
          </a:xfrm>
          <a:prstGeom prst="rect">
            <a:avLst/>
          </a:prstGeom>
          <a:noFill/>
          <a:ln/>
        </p:spPr>
        <p:txBody>
          <a:bodyPr wrap="square" rtlCol="0" anchor="ctr"/>
          <a:lstStyle/>
          <a:p>
            <a:pPr marL="0" indent="0">
              <a:buNone/>
            </a:pPr>
            <a:r>
              <a:rPr lang="en-US" sz="1150" b="1" dirty="0">
                <a:solidFill>
                  <a:srgbClr val="0F6E6E"/>
                </a:solidFill>
                <a:latin typeface="Calibri" pitchFamily="34" charset="0"/>
                <a:ea typeface="Calibri" pitchFamily="34" charset="-122"/>
                <a:cs typeface="Calibri" pitchFamily="34" charset="-120"/>
              </a:rPr>
              <a:t>Second:  </a:t>
            </a:r>
            <a:r>
              <a:rPr lang="en-US" sz="1150" dirty="0">
                <a:solidFill>
                  <a:srgbClr val="1F2933"/>
                </a:solidFill>
                <a:latin typeface="Calibri" pitchFamily="34" charset="0"/>
                <a:ea typeface="Calibri" pitchFamily="34" charset="-122"/>
                <a:cs typeface="Calibri" pitchFamily="34" charset="-120"/>
              </a:rPr>
              <a:t>Receivables due from external parties are reported separately from amounts due from subsidiaries, the holding company, and the Engineering Office</a:t>
            </a:r>
            <a:endParaRPr lang="en-US" sz="1150" dirty="0"/>
          </a:p>
        </p:txBody>
      </p:sp>
      <p:sp>
        <p:nvSpPr>
          <p:cNvPr id="9" name="Text 6"/>
          <p:cNvSpPr/>
          <p:nvPr/>
        </p:nvSpPr>
        <p:spPr>
          <a:xfrm>
            <a:off x="457200" y="4152208"/>
            <a:ext cx="11274552" cy="320040"/>
          </a:xfrm>
          <a:prstGeom prst="rect">
            <a:avLst/>
          </a:prstGeom>
          <a:noFill/>
          <a:ln/>
        </p:spPr>
        <p:txBody>
          <a:bodyPr wrap="square" rtlCol="0" anchor="ctr"/>
          <a:lstStyle/>
          <a:p>
            <a:pPr marL="0" indent="0">
              <a:buNone/>
            </a:pPr>
            <a:r>
              <a:rPr lang="en-US" sz="1250" b="1" dirty="0">
                <a:solidFill>
                  <a:srgbClr val="0F6E6E"/>
                </a:solidFill>
                <a:latin typeface="Calibri" pitchFamily="34" charset="0"/>
                <a:ea typeface="Calibri" pitchFamily="34" charset="-122"/>
                <a:cs typeface="Calibri" pitchFamily="34" charset="-120"/>
              </a:rPr>
              <a:t>Third:  </a:t>
            </a:r>
            <a:r>
              <a:rPr lang="en-US" sz="1250" dirty="0">
                <a:solidFill>
                  <a:srgbClr val="1F2933"/>
                </a:solidFill>
                <a:latin typeface="Calibri" pitchFamily="34" charset="0"/>
                <a:ea typeface="Calibri" pitchFamily="34" charset="-122"/>
                <a:cs typeface="Calibri" pitchFamily="34" charset="-120"/>
              </a:rPr>
              <a:t>Measuring Company Performance — Three KPIs are set for each company</a:t>
            </a:r>
            <a:endParaRPr lang="en-US" sz="1250" dirty="0"/>
          </a:p>
        </p:txBody>
      </p:sp>
      <p:sp>
        <p:nvSpPr>
          <p:cNvPr id="10" name="Shape 7"/>
          <p:cNvSpPr/>
          <p:nvPr/>
        </p:nvSpPr>
        <p:spPr>
          <a:xfrm>
            <a:off x="457200" y="4517968"/>
            <a:ext cx="3605784" cy="1417320"/>
          </a:xfrm>
          <a:prstGeom prst="rect">
            <a:avLst/>
          </a:prstGeom>
          <a:solidFill>
            <a:srgbClr val="E6F1F1"/>
          </a:solidFill>
          <a:ln w="9525">
            <a:solidFill>
              <a:srgbClr val="D9DEE4"/>
            </a:solidFill>
            <a:prstDash val="solid"/>
          </a:ln>
        </p:spPr>
        <p:txBody>
          <a:bodyPr/>
          <a:lstStyle/>
          <a:p>
            <a:endParaRPr lang="en-AE"/>
          </a:p>
        </p:txBody>
      </p:sp>
      <p:sp>
        <p:nvSpPr>
          <p:cNvPr id="11" name="Text 8"/>
          <p:cNvSpPr/>
          <p:nvPr/>
        </p:nvSpPr>
        <p:spPr>
          <a:xfrm>
            <a:off x="594360" y="4645984"/>
            <a:ext cx="3331464" cy="292608"/>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Collection Rate</a:t>
            </a:r>
            <a:endParaRPr lang="en-US" sz="1250" dirty="0"/>
          </a:p>
        </p:txBody>
      </p:sp>
      <p:sp>
        <p:nvSpPr>
          <p:cNvPr id="12" name="Text 9"/>
          <p:cNvSpPr/>
          <p:nvPr/>
        </p:nvSpPr>
        <p:spPr>
          <a:xfrm>
            <a:off x="594360" y="4975168"/>
            <a:ext cx="3331464" cy="594360"/>
          </a:xfrm>
          <a:prstGeom prst="rect">
            <a:avLst/>
          </a:prstGeom>
          <a:noFill/>
          <a:ln/>
        </p:spPr>
        <p:txBody>
          <a:bodyPr wrap="square" rtlCol="0" anchor="ctr"/>
          <a:lstStyle/>
          <a:p>
            <a:pPr marL="0" indent="0">
              <a:lnSpc>
                <a:spcPct val="120000"/>
              </a:lnSpc>
              <a:buNone/>
            </a:pPr>
            <a:r>
              <a:rPr lang="en-US" sz="950" dirty="0">
                <a:solidFill>
                  <a:srgbClr val="1F2933"/>
                </a:solidFill>
                <a:latin typeface="Calibri" pitchFamily="34" charset="0"/>
                <a:ea typeface="Calibri" pitchFamily="34" charset="-122"/>
                <a:cs typeface="Calibri" pitchFamily="34" charset="-120"/>
              </a:rPr>
              <a:t>Amounts collected this month ÷ amounts due for collection till end of previous month</a:t>
            </a:r>
            <a:endParaRPr lang="en-US" sz="950" dirty="0"/>
          </a:p>
        </p:txBody>
      </p:sp>
      <p:sp>
        <p:nvSpPr>
          <p:cNvPr id="13" name="Text 10"/>
          <p:cNvSpPr/>
          <p:nvPr/>
        </p:nvSpPr>
        <p:spPr>
          <a:xfrm>
            <a:off x="594360" y="5587816"/>
            <a:ext cx="3331464" cy="274320"/>
          </a:xfrm>
          <a:prstGeom prst="rect">
            <a:avLst/>
          </a:prstGeom>
          <a:noFill/>
          <a:ln/>
        </p:spPr>
        <p:txBody>
          <a:bodyPr wrap="square" rtlCol="0" anchor="ctr"/>
          <a:lstStyle/>
          <a:p>
            <a:pPr marL="0" indent="0">
              <a:buNone/>
            </a:pPr>
            <a:r>
              <a:rPr lang="en-US" sz="950" b="1" i="1" dirty="0">
                <a:solidFill>
                  <a:srgbClr val="0F6E6E"/>
                </a:solidFill>
                <a:latin typeface="Calibri" pitchFamily="34" charset="0"/>
                <a:ea typeface="Calibri" pitchFamily="34" charset="-122"/>
                <a:cs typeface="Calibri" pitchFamily="34" charset="-120"/>
              </a:rPr>
              <a:t>NPS 62%  |  NPM 55%  |  Group 56%</a:t>
            </a:r>
            <a:endParaRPr lang="en-US" sz="950" dirty="0"/>
          </a:p>
        </p:txBody>
      </p:sp>
      <p:sp>
        <p:nvSpPr>
          <p:cNvPr id="14" name="Shape 11"/>
          <p:cNvSpPr/>
          <p:nvPr/>
        </p:nvSpPr>
        <p:spPr>
          <a:xfrm>
            <a:off x="4291584" y="4517968"/>
            <a:ext cx="3605784" cy="1417320"/>
          </a:xfrm>
          <a:prstGeom prst="rect">
            <a:avLst/>
          </a:prstGeom>
          <a:solidFill>
            <a:srgbClr val="E6F1F1"/>
          </a:solidFill>
          <a:ln w="9525">
            <a:solidFill>
              <a:srgbClr val="D9DEE4"/>
            </a:solidFill>
            <a:prstDash val="solid"/>
          </a:ln>
        </p:spPr>
        <p:txBody>
          <a:bodyPr/>
          <a:lstStyle/>
          <a:p>
            <a:endParaRPr lang="en-AE"/>
          </a:p>
        </p:txBody>
      </p:sp>
      <p:sp>
        <p:nvSpPr>
          <p:cNvPr id="15" name="Text 12"/>
          <p:cNvSpPr/>
          <p:nvPr/>
        </p:nvSpPr>
        <p:spPr>
          <a:xfrm>
            <a:off x="4428744" y="4645984"/>
            <a:ext cx="3331464" cy="292608"/>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Overdue Ratio</a:t>
            </a:r>
            <a:endParaRPr lang="en-US" sz="1250" dirty="0"/>
          </a:p>
        </p:txBody>
      </p:sp>
      <p:sp>
        <p:nvSpPr>
          <p:cNvPr id="16" name="Text 13"/>
          <p:cNvSpPr/>
          <p:nvPr/>
        </p:nvSpPr>
        <p:spPr>
          <a:xfrm>
            <a:off x="4428744" y="4975168"/>
            <a:ext cx="3331464" cy="594360"/>
          </a:xfrm>
          <a:prstGeom prst="rect">
            <a:avLst/>
          </a:prstGeom>
          <a:noFill/>
          <a:ln/>
        </p:spPr>
        <p:txBody>
          <a:bodyPr wrap="square" rtlCol="0" anchor="ctr"/>
          <a:lstStyle/>
          <a:p>
            <a:pPr marL="0" indent="0">
              <a:lnSpc>
                <a:spcPct val="120000"/>
              </a:lnSpc>
              <a:buNone/>
            </a:pPr>
            <a:r>
              <a:rPr lang="en-US" sz="950" dirty="0">
                <a:solidFill>
                  <a:srgbClr val="1F2933"/>
                </a:solidFill>
                <a:latin typeface="Calibri" pitchFamily="34" charset="0"/>
                <a:ea typeface="Calibri" pitchFamily="34" charset="-122"/>
                <a:cs typeface="Calibri" pitchFamily="34" charset="-120"/>
              </a:rPr>
              <a:t>Overdue receivables (over 60 days) ÷ total receivables of the company</a:t>
            </a:r>
            <a:endParaRPr lang="en-US" sz="950" dirty="0"/>
          </a:p>
        </p:txBody>
      </p:sp>
      <p:sp>
        <p:nvSpPr>
          <p:cNvPr id="17" name="Text 14"/>
          <p:cNvSpPr/>
          <p:nvPr/>
        </p:nvSpPr>
        <p:spPr>
          <a:xfrm>
            <a:off x="4428744" y="5587816"/>
            <a:ext cx="3331464" cy="274320"/>
          </a:xfrm>
          <a:prstGeom prst="rect">
            <a:avLst/>
          </a:prstGeom>
          <a:noFill/>
          <a:ln/>
        </p:spPr>
        <p:txBody>
          <a:bodyPr wrap="square" rtlCol="0" anchor="ctr"/>
          <a:lstStyle/>
          <a:p>
            <a:pPr marL="0" indent="0">
              <a:buNone/>
            </a:pPr>
            <a:r>
              <a:rPr lang="en-US" sz="950" b="1" i="1" dirty="0">
                <a:solidFill>
                  <a:srgbClr val="0F6E6E"/>
                </a:solidFill>
                <a:latin typeface="Calibri" pitchFamily="34" charset="0"/>
                <a:ea typeface="Calibri" pitchFamily="34" charset="-122"/>
                <a:cs typeface="Calibri" pitchFamily="34" charset="-120"/>
              </a:rPr>
              <a:t>NPS 13%  |  NPM 30%  |  Group 26%</a:t>
            </a:r>
            <a:endParaRPr lang="en-US" sz="950" dirty="0"/>
          </a:p>
        </p:txBody>
      </p:sp>
      <p:sp>
        <p:nvSpPr>
          <p:cNvPr id="18" name="Shape 15"/>
          <p:cNvSpPr/>
          <p:nvPr/>
        </p:nvSpPr>
        <p:spPr>
          <a:xfrm>
            <a:off x="8125968" y="4517968"/>
            <a:ext cx="3605784" cy="1417320"/>
          </a:xfrm>
          <a:prstGeom prst="rect">
            <a:avLst/>
          </a:prstGeom>
          <a:solidFill>
            <a:srgbClr val="FAE7E4"/>
          </a:solidFill>
          <a:ln w="9525">
            <a:solidFill>
              <a:srgbClr val="D9DEE4"/>
            </a:solidFill>
            <a:prstDash val="solid"/>
          </a:ln>
        </p:spPr>
        <p:txBody>
          <a:bodyPr/>
          <a:lstStyle/>
          <a:p>
            <a:endParaRPr lang="en-AE"/>
          </a:p>
        </p:txBody>
      </p:sp>
      <p:sp>
        <p:nvSpPr>
          <p:cNvPr id="19" name="Shape 16"/>
          <p:cNvSpPr/>
          <p:nvPr/>
        </p:nvSpPr>
        <p:spPr>
          <a:xfrm>
            <a:off x="8263128" y="4682560"/>
            <a:ext cx="201168" cy="201168"/>
          </a:xfrm>
          <a:prstGeom prst="ellipse">
            <a:avLst/>
          </a:prstGeom>
          <a:solidFill>
            <a:srgbClr val="C0392B"/>
          </a:solidFill>
          <a:ln/>
        </p:spPr>
        <p:txBody>
          <a:bodyPr/>
          <a:lstStyle/>
          <a:p>
            <a:endParaRPr lang="en-AE"/>
          </a:p>
        </p:txBody>
      </p:sp>
      <p:sp>
        <p:nvSpPr>
          <p:cNvPr id="20" name="Text 17"/>
          <p:cNvSpPr/>
          <p:nvPr/>
        </p:nvSpPr>
        <p:spPr>
          <a:xfrm>
            <a:off x="8564880" y="4645984"/>
            <a:ext cx="3029712" cy="292608"/>
          </a:xfrm>
          <a:prstGeom prst="rect">
            <a:avLst/>
          </a:prstGeom>
          <a:noFill/>
          <a:ln/>
        </p:spPr>
        <p:txBody>
          <a:bodyPr wrap="square" rtlCol="0" anchor="ctr"/>
          <a:lstStyle/>
          <a:p>
            <a:pPr marL="0" indent="0">
              <a:buNone/>
            </a:pPr>
            <a:r>
              <a:rPr lang="en-US" sz="1250" b="1" dirty="0">
                <a:solidFill>
                  <a:srgbClr val="C0392B"/>
                </a:solidFill>
                <a:latin typeface="Calibri" pitchFamily="34" charset="0"/>
                <a:ea typeface="Calibri" pitchFamily="34" charset="-122"/>
                <a:cs typeface="Calibri" pitchFamily="34" charset="-120"/>
              </a:rPr>
              <a:t>Very High Risk</a:t>
            </a:r>
            <a:endParaRPr lang="en-US" sz="1250" dirty="0"/>
          </a:p>
        </p:txBody>
      </p:sp>
      <p:sp>
        <p:nvSpPr>
          <p:cNvPr id="21" name="Text 18"/>
          <p:cNvSpPr/>
          <p:nvPr/>
        </p:nvSpPr>
        <p:spPr>
          <a:xfrm>
            <a:off x="8263128" y="4975168"/>
            <a:ext cx="3331464" cy="822960"/>
          </a:xfrm>
          <a:prstGeom prst="rect">
            <a:avLst/>
          </a:prstGeom>
          <a:noFill/>
          <a:ln/>
        </p:spPr>
        <p:txBody>
          <a:bodyPr wrap="square" rtlCol="0" anchor="ctr"/>
          <a:lstStyle/>
          <a:p>
            <a:pPr marL="0" indent="0">
              <a:lnSpc>
                <a:spcPct val="120000"/>
              </a:lnSpc>
              <a:buNone/>
            </a:pPr>
            <a:r>
              <a:rPr lang="en-US" sz="950" dirty="0">
                <a:solidFill>
                  <a:srgbClr val="1F2933"/>
                </a:solidFill>
                <a:latin typeface="Calibri" pitchFamily="34" charset="0"/>
                <a:ea typeface="Calibri" pitchFamily="34" charset="-122"/>
                <a:cs typeface="Calibri" pitchFamily="34" charset="-120"/>
              </a:rPr>
              <a:t>Debts outstanding over 91 days indicate a very high risk of non-collection and require immediate escalation.</a:t>
            </a:r>
            <a:endParaRPr lang="en-US" sz="950" dirty="0"/>
          </a:p>
          <a:p>
            <a:pPr marL="0" indent="0">
              <a:spcBef>
                <a:spcPts val="600"/>
              </a:spcBef>
              <a:lnSpc>
                <a:spcPct val="120000"/>
              </a:lnSpc>
              <a:buNone/>
            </a:pPr>
            <a:r>
              <a:rPr lang="en-US" sz="950" dirty="0" b="1">
                <a:solidFill>
                  <a:srgbClr val="1F2933"/>
                </a:solidFill>
                <a:latin typeface="Calibri" pitchFamily="34" charset="0"/>
                <a:ea typeface="Calibri" pitchFamily="34" charset="-122"/>
                <a:cs typeface="Calibri" pitchFamily="34" charset="-120"/>
              </a:rPr>
              <a:t>+91 days:  NPS 0.49m  |  NPM 2.96m  |  Group 3.45m</a:t>
            </a:r>
            <a:endParaRPr lang="en-US" sz="950" dirty="0"/>
          </a:p>
        </p:txBody>
      </p:sp>
      <p:sp>
        <p:nvSpPr>
          <p:cNvPr id="22" name="Table note"/>
          <p:cNvSpPr txBox="1"/>
          <p:nvPr/>
        </p:nvSpPr>
        <p:spPr>
          <a:xfrm>
            <a:off x="457200" y="3395000"/>
            <a:ext cx="11274552" cy="250000"/>
          </a:xfrm>
          <a:prstGeom prst="rect">
            <a:avLst/>
          </a:prstGeom>
          <a:noFill/>
        </p:spPr>
        <p:txBody>
          <a:bodyPr wrap="square" tIns="0" bIns="0">
            <a:spAutoFit/>
          </a:bodyPr>
          <a:lstStyle/>
          <a:p>
            <a:r>
              <a:rPr sz="900" i="1">
                <a:solidFill>
                  <a:srgbClr val="5A6472"/>
                </a:solidFill>
                <a:latin typeface="Calibri"/>
              </a:rPr>
              <a:t>Intercompany: amounts due from subsidiaries, the holding company (UNH) and the Engineering Office. Net of AED 1.10m collected 1–16 Oct; collection rate uses September collections only. Amounts in AED.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chemeClr val="bg1">
              <a:lumMod val="75000"/>
            </a:schemeClr>
          </a:solidFill>
          <a:ln/>
        </p:spPr>
        <p:txBody>
          <a:bodyPr/>
          <a:lstStyle/>
          <a:p>
            <a:endParaRPr lang="en-AE"/>
          </a:p>
        </p:txBody>
      </p:sp>
      <p:sp>
        <p:nvSpPr>
          <p:cNvPr id="3" name="Text 1"/>
          <p:cNvSpPr/>
          <p:nvPr/>
        </p:nvSpPr>
        <p:spPr>
          <a:xfrm>
            <a:off x="457200" y="0"/>
            <a:ext cx="10058400" cy="8686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Top Overdue Customers &amp; Risk Monitoring – Intercompany</a:t>
            </a:r>
            <a:endParaRPr lang="en-US" sz="2000" dirty="0"/>
          </a:p>
        </p:txBody>
      </p:sp>
      <p:sp>
        <p:nvSpPr>
          <p:cNvPr id="4" name="Text 2"/>
          <p:cNvSpPr/>
          <p:nvPr/>
        </p:nvSpPr>
        <p:spPr>
          <a:xfrm>
            <a:off x="10424160" y="0"/>
            <a:ext cx="1325880" cy="868680"/>
          </a:xfrm>
          <a:prstGeom prst="rect">
            <a:avLst/>
          </a:prstGeom>
          <a:noFill/>
          <a:ln/>
        </p:spPr>
        <p:txBody>
          <a:bodyPr wrap="square" rtlCol="0" anchor="ctr"/>
          <a:lstStyle/>
          <a:p>
            <a:pPr marL="0" indent="0" algn="r">
              <a:buNone/>
            </a:pPr>
            <a:r>
              <a:rPr lang="en-US" sz="1050" b="1" dirty="0">
                <a:solidFill>
                  <a:srgbClr val="E6F1F1"/>
                </a:solidFill>
                <a:latin typeface="Calibri" pitchFamily="34" charset="0"/>
                <a:ea typeface="Calibri" pitchFamily="34" charset="-122"/>
                <a:cs typeface="Calibri" pitchFamily="34" charset="-120"/>
              </a:rPr>
              <a:t>SECTION 4 – 5</a:t>
            </a:r>
            <a:endParaRPr lang="en-US" sz="1050" dirty="0"/>
          </a:p>
        </p:txBody>
      </p:sp>
      <p:sp>
        <p:nvSpPr>
          <p:cNvPr id="5" name="Text 3"/>
          <p:cNvSpPr/>
          <p:nvPr/>
        </p:nvSpPr>
        <p:spPr>
          <a:xfrm>
            <a:off x="457200" y="1024128"/>
            <a:ext cx="11274552" cy="320040"/>
          </a:xfrm>
          <a:prstGeom prst="rect">
            <a:avLst/>
          </a:prstGeom>
          <a:noFill/>
          <a:ln/>
        </p:spPr>
        <p:txBody>
          <a:bodyPr wrap="square" rtlCol="0" anchor="ctr"/>
          <a:lstStyle/>
          <a:p>
            <a:pPr marL="0" indent="0">
              <a:buNone/>
            </a:pPr>
            <a:r>
              <a:rPr lang="en-US" sz="1250" b="1" dirty="0">
                <a:solidFill>
                  <a:srgbClr val="0F6E6E"/>
                </a:solidFill>
                <a:latin typeface="Calibri" pitchFamily="34" charset="0"/>
                <a:ea typeface="Calibri" pitchFamily="34" charset="-122"/>
                <a:cs typeface="Calibri" pitchFamily="34" charset="-120"/>
              </a:rPr>
              <a:t>Fourth:  </a:t>
            </a:r>
            <a:r>
              <a:rPr lang="en-US" sz="1250" dirty="0">
                <a:solidFill>
                  <a:srgbClr val="1F2933"/>
                </a:solidFill>
                <a:latin typeface="Calibri" pitchFamily="34" charset="0"/>
                <a:ea typeface="Calibri" pitchFamily="34" charset="-122"/>
                <a:cs typeface="Calibri" pitchFamily="34" charset="-120"/>
              </a:rPr>
              <a:t>Top Overdue Customers for each company — covering at least 80% of total outstanding receivables</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3104897496"/>
              </p:ext>
            </p:extLst>
          </p:nvPr>
        </p:nvGraphicFramePr>
        <p:xfrm>
          <a:off x="457200" y="1371600"/>
          <a:ext cx="11274552" cy="1420000"/>
        </p:xfrm>
        <a:graphic>
          <a:graphicData uri="http://schemas.openxmlformats.org/drawingml/2006/table">
            <a:tbl>
              <a:tblPr/>
              <a:tblGrid>
                <a:gridCol w="3900000">
                  <a:extLst>
                    <a:ext uri="{9D8B030D-6E8A-4147-A177-3AD203B41FA5}">
                      <a16:colId xmlns:a16="http://schemas.microsoft.com/office/drawing/2014/main" val="20000"/>
                    </a:ext>
                  </a:extLst>
                </a:gridCol>
                <a:gridCol w="750000">
                  <a:extLst>
                    <a:ext uri="{9D8B030D-6E8A-4147-A177-3AD203B41FA5}">
                      <a16:colId xmlns:a16="http://schemas.microsoft.com/office/drawing/2014/main" val="20001"/>
                    </a:ext>
                  </a:extLst>
                </a:gridCol>
                <a:gridCol w="750000">
                  <a:extLst>
                    <a:ext uri="{9D8B030D-6E8A-4147-A177-3AD203B41FA5}">
                      <a16:colId xmlns:a16="http://schemas.microsoft.com/office/drawing/2014/main" val="20002"/>
                    </a:ext>
                  </a:extLst>
                </a:gridCol>
                <a:gridCol w="1300000">
                  <a:extLst>
                    <a:ext uri="{9D8B030D-6E8A-4147-A177-3AD203B41FA5}">
                      <a16:colId xmlns:a16="http://schemas.microsoft.com/office/drawing/2014/main" val="20003"/>
                    </a:ext>
                  </a:extLst>
                </a:gridCol>
                <a:gridCol w="1100000">
                  <a:extLst>
                    <a:ext uri="{9D8B030D-6E8A-4147-A177-3AD203B41FA5}">
                      <a16:colId xmlns:a16="http://schemas.microsoft.com/office/drawing/2014/main" val="20004"/>
                    </a:ext>
                  </a:extLst>
                </a:gridCol>
                <a:gridCol w="2000000">
                  <a:extLst>
                    <a:ext uri="{9D8B030D-6E8A-4147-A177-3AD203B41FA5}">
                      <a16:colId xmlns:a16="http://schemas.microsoft.com/office/drawing/2014/main" val="20005"/>
                    </a:ext>
                  </a:extLst>
                </a:gridCol>
                <a:gridCol w="1474552">
                  <a:extLst>
                    <a:ext uri="{9D8B030D-6E8A-4147-A177-3AD203B41FA5}">
                      <a16:colId xmlns:a16="http://schemas.microsoft.com/office/drawing/2014/main" val="20006"/>
                    </a:ext>
                  </a:extLst>
                </a:gridCol>
              </a:tblGrid>
              <a:tr h="340000">
                <a:tc>
                  <a:txBody>
                    <a:bodyPr/>
                    <a:lstStyle/>
                    <a:p>
                      <a:pPr marL="0" indent="0" algn="ctr">
                        <a:buNone/>
                      </a:pPr>
                      <a:r>
                        <a:rPr lang="en-US" sz="950" b="1" dirty="0">
                          <a:solidFill>
                            <a:srgbClr val="FFFFFF"/>
                          </a:solidFill>
                        </a:rPr>
                        <a:t>Client</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950" b="1" dirty="0">
                          <a:solidFill>
                            <a:srgbClr val="FFFFFF"/>
                          </a:solidFill>
                        </a:rPr>
                        <a:t>Amount</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950" b="1" dirty="0">
                          <a:solidFill>
                            <a:srgbClr val="FFFFFF"/>
                          </a:solidFill>
                        </a:rPr>
                        <a:t>Duration</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950" b="1" dirty="0">
                          <a:solidFill>
                            <a:srgbClr val="FFFFFF"/>
                          </a:solidFill>
                        </a:rPr>
                        <a:t>Reason</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950" b="1" dirty="0">
                          <a:solidFill>
                            <a:srgbClr val="FFFFFF"/>
                          </a:solidFill>
                        </a:rPr>
                        <a:t>Responsible</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950" b="1" dirty="0">
                          <a:solidFill>
                            <a:srgbClr val="FFFFFF"/>
                          </a:solidFill>
                        </a:rPr>
                        <a:t>Action to be Taken</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tc>
                  <a:txBody>
                    <a:bodyPr/>
                    <a:lstStyle/>
                    <a:p>
                      <a:pPr marL="0" indent="0" algn="ctr">
                        <a:buNone/>
                      </a:pPr>
                      <a:r>
                        <a:rPr lang="en-US" sz="950" b="1" dirty="0">
                          <a:solidFill>
                            <a:srgbClr val="FFFFFF"/>
                          </a:solidFill>
                        </a:rPr>
                        <a:t>Expected</a:t>
                      </a:r>
                      <a:endParaRPr lang="en-US" sz="950" dirty="0"/>
                    </a:p>
                    <a:p>
                      <a:pPr marL="0" indent="0" algn="ctr">
                        <a:buNone/>
                      </a:pPr>
                      <a:r>
                        <a:rPr lang="en-US" sz="950" b="1" dirty="0">
                          <a:solidFill>
                            <a:srgbClr val="FFFFFF"/>
                          </a:solidFill>
                        </a:rPr>
                        <a:t>Collection Date</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270000">
                <a:tc>
                  <a:txBody>
                    <a:bodyPr/>
                    <a:lstStyle/>
                    <a:p>
                      <a:pPr marL="0" indent="0" algn="l">
                        <a:buNone/>
                      </a:pPr>
                      <a:r>
                        <a:rPr lang="en-US" sz="900" b="1" dirty="0">
                          <a:solidFill>
                            <a:srgbClr val="1F2933"/>
                          </a:solidFill>
                        </a:rPr>
                        <a:t>NPS – Tal Al Wathba Transport and General Contracting L.L.C - S.P.C</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2.83m</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0 days</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l">
                        <a:buNone/>
                      </a:pPr>
                      <a:r>
                        <a:rPr lang="en-US" sz="900" i="1" dirty="0">
                          <a:solidFill>
                            <a:srgbClr val="1F2933"/>
                          </a:solidFill>
                        </a:rPr>
                        <a:t>To be determined in the meeting</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0000">
                <a:tc>
                  <a:txBody>
                    <a:bodyPr/>
                    <a:lstStyle/>
                    <a:p>
                      <a:pPr marL="0" indent="0" algn="l">
                        <a:buNone/>
                      </a:pPr>
                      <a:r>
                        <a:rPr lang="en-US" sz="900" b="1" dirty="0">
                          <a:solidFill>
                            <a:srgbClr val="1F2933"/>
                          </a:solidFill>
                        </a:rPr>
                        <a:t>NPS – Due from EOM</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0.28m</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273 days</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l">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l">
                        <a:buNone/>
                      </a:pPr>
                      <a:r>
                        <a:rPr lang="en-US" sz="900" i="1" dirty="0">
                          <a:solidFill>
                            <a:srgbClr val="1F2933"/>
                          </a:solidFill>
                        </a:rPr>
                        <a:t>To be determined in the meeting</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270000">
                <a:tc>
                  <a:txBody>
                    <a:bodyPr/>
                    <a:lstStyle/>
                    <a:p>
                      <a:pPr marL="0" indent="0" algn="l">
                        <a:buNone/>
                      </a:pPr>
                      <a:r>
                        <a:rPr lang="en-US" sz="900" b="1" dirty="0">
                          <a:solidFill>
                            <a:srgbClr val="1F2933"/>
                          </a:solidFill>
                        </a:rPr>
                        <a:t>NPM – H.H. Sheikh Mansour Bin Zayed Al Nahyan Engineering Office</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7.28m</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60 days</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l">
                        <a:buNone/>
                      </a:pPr>
                      <a:r>
                        <a:rPr lang="en-US" sz="900" i="1" dirty="0">
                          <a:solidFill>
                            <a:srgbClr val="1F2933"/>
                          </a:solidFill>
                        </a:rPr>
                        <a:t>To be determined in the meeting</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0000">
                <a:tc>
                  <a:txBody>
                    <a:bodyPr/>
                    <a:lstStyle/>
                    <a:p>
                      <a:pPr marL="0" indent="0" algn="l">
                        <a:buNone/>
                      </a:pPr>
                      <a:r>
                        <a:rPr lang="en-US" sz="900" b="1" dirty="0">
                          <a:solidFill>
                            <a:srgbClr val="1F2933"/>
                          </a:solidFill>
                        </a:rPr>
                        <a:t>NPM – E11 Eng Conslt And Project Mgt - N</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1.74m</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273 days</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l">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l">
                        <a:buNone/>
                      </a:pPr>
                      <a:r>
                        <a:rPr lang="en-US" sz="900" i="1" dirty="0">
                          <a:solidFill>
                            <a:srgbClr val="1F2933"/>
                          </a:solidFill>
                        </a:rPr>
                        <a:t>To be determined in the meeting</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lgn="ctr">
                        <a:buNone/>
                      </a:pPr>
                      <a:r>
                        <a:rPr lang="en-US" sz="900" dirty="0">
                          <a:solidFill>
                            <a:srgbClr val="1F2933"/>
                          </a:solidFill>
                        </a:rPr>
                        <a:t>TBD</a:t>
                      </a:r>
                      <a:endParaRPr lang="en-US" sz="950" dirty="0"/>
                    </a:p>
                  </a:txBody>
                  <a:tcPr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bl>
          </a:graphicData>
        </a:graphic>
      </p:graphicFrame>
      <p:sp>
        <p:nvSpPr>
          <p:cNvPr id="7" name="Text 4"/>
          <p:cNvSpPr/>
          <p:nvPr/>
        </p:nvSpPr>
        <p:spPr>
          <a:xfrm>
            <a:off x="457200" y="3080200"/>
            <a:ext cx="11274552" cy="320040"/>
          </a:xfrm>
          <a:prstGeom prst="rect">
            <a:avLst/>
          </a:prstGeom>
          <a:noFill/>
          <a:ln/>
        </p:spPr>
        <p:txBody>
          <a:bodyPr wrap="square" rtlCol="0" anchor="ctr"/>
          <a:lstStyle/>
          <a:p>
            <a:pPr marL="0" indent="0">
              <a:buNone/>
            </a:pPr>
            <a:r>
              <a:rPr lang="en-US" sz="1250" b="1" dirty="0">
                <a:solidFill>
                  <a:srgbClr val="0F6E6E"/>
                </a:solidFill>
                <a:latin typeface="Calibri" pitchFamily="34" charset="0"/>
                <a:ea typeface="Calibri" pitchFamily="34" charset="-122"/>
                <a:cs typeface="Calibri" pitchFamily="34" charset="-120"/>
              </a:rPr>
              <a:t>Fifth:  </a:t>
            </a:r>
            <a:r>
              <a:rPr lang="en-US" sz="1250" dirty="0">
                <a:solidFill>
                  <a:srgbClr val="1F2933"/>
                </a:solidFill>
                <a:latin typeface="Calibri" pitchFamily="34" charset="0"/>
                <a:ea typeface="Calibri" pitchFamily="34" charset="-122"/>
                <a:cs typeface="Calibri" pitchFamily="34" charset="-120"/>
              </a:rPr>
              <a:t>A Simple Traffic Light Dashboard — one-page view by overdue ratio and by aging Receivables</a:t>
            </a:r>
            <a:endParaRPr lang="en-US" sz="1250" dirty="0"/>
          </a:p>
        </p:txBody>
      </p:sp>
      <p:sp>
        <p:nvSpPr>
          <p:cNvPr id="8" name="Shape 5"/>
          <p:cNvSpPr/>
          <p:nvPr/>
        </p:nvSpPr>
        <p:spPr>
          <a:xfrm>
            <a:off x="457200" y="3491680"/>
            <a:ext cx="5522976" cy="960120"/>
          </a:xfrm>
          <a:prstGeom prst="rect">
            <a:avLst/>
          </a:prstGeom>
          <a:solidFill>
            <a:srgbClr val="F4F6F8"/>
          </a:solidFill>
          <a:ln w="9525">
            <a:solidFill>
              <a:srgbClr val="D9DEE4"/>
            </a:solidFill>
            <a:prstDash val="solid"/>
          </a:ln>
        </p:spPr>
        <p:txBody>
          <a:bodyPr/>
          <a:lstStyle/>
          <a:p>
            <a:endParaRPr lang="en-AE" dirty="0"/>
          </a:p>
        </p:txBody>
      </p:sp>
      <p:sp>
        <p:nvSpPr>
          <p:cNvPr id="9" name="Text 6"/>
          <p:cNvSpPr/>
          <p:nvPr/>
        </p:nvSpPr>
        <p:spPr>
          <a:xfrm>
            <a:off x="594360" y="3564832"/>
            <a:ext cx="5248656" cy="256032"/>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Overdue Ratio</a:t>
            </a:r>
            <a:endParaRPr lang="en-US" sz="1100" dirty="0"/>
          </a:p>
        </p:txBody>
      </p:sp>
      <p:sp>
        <p:nvSpPr>
          <p:cNvPr id="10" name="Shape 7"/>
          <p:cNvSpPr/>
          <p:nvPr/>
        </p:nvSpPr>
        <p:spPr>
          <a:xfrm>
            <a:off x="621792" y="3875728"/>
            <a:ext cx="128016" cy="128016"/>
          </a:xfrm>
          <a:prstGeom prst="ellipse">
            <a:avLst/>
          </a:prstGeom>
          <a:solidFill>
            <a:srgbClr val="C0392B"/>
          </a:solidFill>
          <a:ln/>
        </p:spPr>
        <p:txBody>
          <a:bodyPr/>
          <a:lstStyle/>
          <a:p>
            <a:endParaRPr lang="en-AE"/>
          </a:p>
        </p:txBody>
      </p:sp>
      <p:sp>
        <p:nvSpPr>
          <p:cNvPr id="11" name="Text 8"/>
          <p:cNvSpPr/>
          <p:nvPr/>
        </p:nvSpPr>
        <p:spPr>
          <a:xfrm>
            <a:off x="841248" y="3830008"/>
            <a:ext cx="4974336" cy="201168"/>
          </a:xfrm>
          <a:prstGeom prst="rect">
            <a:avLst/>
          </a:prstGeom>
          <a:noFill/>
          <a:ln/>
        </p:spPr>
        <p:txBody>
          <a:bodyPr wrap="square" rtlCol="0" anchor="ctr"/>
          <a:lstStyle/>
          <a:p>
            <a:pPr marL="0" indent="0">
              <a:buNone/>
            </a:pPr>
            <a:r>
              <a:rPr lang="en-US" sz="950" dirty="0">
                <a:solidFill>
                  <a:srgbClr val="1F2933"/>
                </a:solidFill>
                <a:latin typeface="Calibri" pitchFamily="34" charset="0"/>
                <a:ea typeface="Calibri" pitchFamily="34" charset="-122"/>
                <a:cs typeface="Calibri" pitchFamily="34" charset="-120"/>
              </a:rPr>
              <a:t>Exceeding 15%</a:t>
            </a:r>
            <a:endParaRPr lang="en-US" sz="950" dirty="0"/>
          </a:p>
        </p:txBody>
      </p:sp>
      <p:sp>
        <p:nvSpPr>
          <p:cNvPr id="12" name="Shape 9"/>
          <p:cNvSpPr/>
          <p:nvPr/>
        </p:nvSpPr>
        <p:spPr>
          <a:xfrm>
            <a:off x="621792" y="4072324"/>
            <a:ext cx="128016" cy="128016"/>
          </a:xfrm>
          <a:prstGeom prst="ellipse">
            <a:avLst/>
          </a:prstGeom>
          <a:solidFill>
            <a:srgbClr val="D98E1E"/>
          </a:solidFill>
          <a:ln/>
        </p:spPr>
        <p:txBody>
          <a:bodyPr/>
          <a:lstStyle/>
          <a:p>
            <a:endParaRPr lang="en-AE"/>
          </a:p>
        </p:txBody>
      </p:sp>
      <p:sp>
        <p:nvSpPr>
          <p:cNvPr id="13" name="Text 10"/>
          <p:cNvSpPr/>
          <p:nvPr/>
        </p:nvSpPr>
        <p:spPr>
          <a:xfrm>
            <a:off x="841248" y="4026604"/>
            <a:ext cx="4974336" cy="201168"/>
          </a:xfrm>
          <a:prstGeom prst="rect">
            <a:avLst/>
          </a:prstGeom>
          <a:noFill/>
          <a:ln/>
        </p:spPr>
        <p:txBody>
          <a:bodyPr wrap="square" rtlCol="0" anchor="ctr"/>
          <a:lstStyle/>
          <a:p>
            <a:pPr marL="0" indent="0">
              <a:buNone/>
            </a:pPr>
            <a:r>
              <a:rPr lang="en-US" sz="950" dirty="0">
                <a:solidFill>
                  <a:srgbClr val="1F2933"/>
                </a:solidFill>
                <a:latin typeface="Calibri" pitchFamily="34" charset="0"/>
                <a:ea typeface="Calibri" pitchFamily="34" charset="-122"/>
                <a:cs typeface="Calibri" pitchFamily="34" charset="-120"/>
              </a:rPr>
              <a:t>Between 6% and 15%</a:t>
            </a:r>
            <a:endParaRPr lang="en-US" sz="950" dirty="0"/>
          </a:p>
        </p:txBody>
      </p:sp>
      <p:sp>
        <p:nvSpPr>
          <p:cNvPr id="14" name="Shape 11"/>
          <p:cNvSpPr/>
          <p:nvPr/>
        </p:nvSpPr>
        <p:spPr>
          <a:xfrm>
            <a:off x="621792" y="4268920"/>
            <a:ext cx="128016" cy="128016"/>
          </a:xfrm>
          <a:prstGeom prst="ellipse">
            <a:avLst/>
          </a:prstGeom>
          <a:solidFill>
            <a:srgbClr val="2E8B57"/>
          </a:solidFill>
          <a:ln/>
        </p:spPr>
        <p:txBody>
          <a:bodyPr/>
          <a:lstStyle/>
          <a:p>
            <a:endParaRPr lang="en-AE"/>
          </a:p>
        </p:txBody>
      </p:sp>
      <p:sp>
        <p:nvSpPr>
          <p:cNvPr id="15" name="Text 12"/>
          <p:cNvSpPr/>
          <p:nvPr/>
        </p:nvSpPr>
        <p:spPr>
          <a:xfrm>
            <a:off x="841248" y="4223200"/>
            <a:ext cx="4974336" cy="201168"/>
          </a:xfrm>
          <a:prstGeom prst="rect">
            <a:avLst/>
          </a:prstGeom>
          <a:noFill/>
          <a:ln/>
        </p:spPr>
        <p:txBody>
          <a:bodyPr wrap="square" rtlCol="0" anchor="ctr"/>
          <a:lstStyle/>
          <a:p>
            <a:pPr marL="0" indent="0">
              <a:buNone/>
            </a:pPr>
            <a:r>
              <a:rPr lang="en-US" sz="950" dirty="0">
                <a:solidFill>
                  <a:srgbClr val="1F2933"/>
                </a:solidFill>
                <a:latin typeface="Calibri" pitchFamily="34" charset="0"/>
                <a:ea typeface="Calibri" pitchFamily="34" charset="-122"/>
                <a:cs typeface="Calibri" pitchFamily="34" charset="-120"/>
              </a:rPr>
              <a:t>Not exceeding 5%</a:t>
            </a:r>
            <a:endParaRPr lang="en-US" sz="950" dirty="0"/>
          </a:p>
        </p:txBody>
      </p:sp>
      <p:sp>
        <p:nvSpPr>
          <p:cNvPr id="16" name="Shape 13"/>
          <p:cNvSpPr/>
          <p:nvPr/>
        </p:nvSpPr>
        <p:spPr>
          <a:xfrm>
            <a:off x="6208776" y="3491680"/>
            <a:ext cx="5522976" cy="960120"/>
          </a:xfrm>
          <a:prstGeom prst="rect">
            <a:avLst/>
          </a:prstGeom>
          <a:solidFill>
            <a:srgbClr val="F4F6F8"/>
          </a:solidFill>
          <a:ln w="9525">
            <a:solidFill>
              <a:srgbClr val="D9DEE4"/>
            </a:solidFill>
            <a:prstDash val="solid"/>
          </a:ln>
        </p:spPr>
        <p:txBody>
          <a:bodyPr/>
          <a:lstStyle/>
          <a:p>
            <a:endParaRPr lang="en-AE"/>
          </a:p>
        </p:txBody>
      </p:sp>
      <p:sp>
        <p:nvSpPr>
          <p:cNvPr id="17" name="Text 14"/>
          <p:cNvSpPr/>
          <p:nvPr/>
        </p:nvSpPr>
        <p:spPr>
          <a:xfrm>
            <a:off x="6345936" y="3564832"/>
            <a:ext cx="5248656" cy="256032"/>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Receivables Aging</a:t>
            </a:r>
            <a:endParaRPr lang="en-US" sz="1100" dirty="0"/>
          </a:p>
        </p:txBody>
      </p:sp>
      <p:sp>
        <p:nvSpPr>
          <p:cNvPr id="18" name="Shape 15"/>
          <p:cNvSpPr/>
          <p:nvPr/>
        </p:nvSpPr>
        <p:spPr>
          <a:xfrm>
            <a:off x="6373368" y="3875728"/>
            <a:ext cx="128016" cy="128016"/>
          </a:xfrm>
          <a:prstGeom prst="ellipse">
            <a:avLst/>
          </a:prstGeom>
          <a:solidFill>
            <a:srgbClr val="C0392B"/>
          </a:solidFill>
          <a:ln/>
        </p:spPr>
        <p:txBody>
          <a:bodyPr/>
          <a:lstStyle/>
          <a:p>
            <a:endParaRPr lang="en-AE"/>
          </a:p>
        </p:txBody>
      </p:sp>
      <p:sp>
        <p:nvSpPr>
          <p:cNvPr id="19" name="Text 16"/>
          <p:cNvSpPr/>
          <p:nvPr/>
        </p:nvSpPr>
        <p:spPr>
          <a:xfrm>
            <a:off x="6592824" y="3830008"/>
            <a:ext cx="4974336" cy="201168"/>
          </a:xfrm>
          <a:prstGeom prst="rect">
            <a:avLst/>
          </a:prstGeom>
          <a:noFill/>
          <a:ln/>
        </p:spPr>
        <p:txBody>
          <a:bodyPr wrap="square" rtlCol="0" anchor="ctr"/>
          <a:lstStyle/>
          <a:p>
            <a:r>
              <a:rPr lang="en-US" sz="950" dirty="0">
                <a:solidFill>
                  <a:srgbClr val="1F2933"/>
                </a:solidFill>
                <a:latin typeface="Calibri" pitchFamily="34" charset="0"/>
                <a:ea typeface="Calibri" pitchFamily="34" charset="-122"/>
                <a:cs typeface="Calibri" pitchFamily="34" charset="-120"/>
              </a:rPr>
              <a:t>Over 60 days — Amount In AED          Critical</a:t>
            </a:r>
            <a:endParaRPr lang="en-US" sz="950" dirty="0"/>
          </a:p>
        </p:txBody>
      </p:sp>
      <p:sp>
        <p:nvSpPr>
          <p:cNvPr id="20" name="Shape 17"/>
          <p:cNvSpPr/>
          <p:nvPr/>
        </p:nvSpPr>
        <p:spPr>
          <a:xfrm>
            <a:off x="6373368" y="4072324"/>
            <a:ext cx="128016" cy="128016"/>
          </a:xfrm>
          <a:prstGeom prst="ellipse">
            <a:avLst/>
          </a:prstGeom>
          <a:solidFill>
            <a:srgbClr val="D98E1E"/>
          </a:solidFill>
          <a:ln/>
        </p:spPr>
        <p:txBody>
          <a:bodyPr/>
          <a:lstStyle/>
          <a:p>
            <a:endParaRPr lang="en-AE"/>
          </a:p>
        </p:txBody>
      </p:sp>
      <p:sp>
        <p:nvSpPr>
          <p:cNvPr id="21" name="Text 18"/>
          <p:cNvSpPr/>
          <p:nvPr/>
        </p:nvSpPr>
        <p:spPr>
          <a:xfrm>
            <a:off x="6592824" y="4026604"/>
            <a:ext cx="4974336" cy="201168"/>
          </a:xfrm>
          <a:prstGeom prst="rect">
            <a:avLst/>
          </a:prstGeom>
          <a:noFill/>
          <a:ln/>
        </p:spPr>
        <p:txBody>
          <a:bodyPr wrap="square" rtlCol="0" anchor="ctr"/>
          <a:lstStyle/>
          <a:p>
            <a:r>
              <a:rPr lang="en-US" sz="950" dirty="0">
                <a:solidFill>
                  <a:srgbClr val="1F2933"/>
                </a:solidFill>
                <a:latin typeface="Calibri" pitchFamily="34" charset="0"/>
                <a:ea typeface="Calibri" pitchFamily="34" charset="-122"/>
                <a:cs typeface="Calibri" pitchFamily="34" charset="-120"/>
              </a:rPr>
              <a:t>31–60 days —  Amount  In AED           Moderate</a:t>
            </a:r>
            <a:endParaRPr lang="en-US" sz="950" dirty="0"/>
          </a:p>
        </p:txBody>
      </p:sp>
      <p:sp>
        <p:nvSpPr>
          <p:cNvPr id="22" name="Shape 19"/>
          <p:cNvSpPr/>
          <p:nvPr/>
        </p:nvSpPr>
        <p:spPr>
          <a:xfrm>
            <a:off x="6373368" y="4268920"/>
            <a:ext cx="128016" cy="128016"/>
          </a:xfrm>
          <a:prstGeom prst="ellipse">
            <a:avLst/>
          </a:prstGeom>
          <a:solidFill>
            <a:srgbClr val="2E8B57"/>
          </a:solidFill>
          <a:ln/>
        </p:spPr>
        <p:txBody>
          <a:bodyPr/>
          <a:lstStyle/>
          <a:p>
            <a:endParaRPr lang="en-AE"/>
          </a:p>
        </p:txBody>
      </p:sp>
      <p:sp>
        <p:nvSpPr>
          <p:cNvPr id="23" name="Text 20"/>
          <p:cNvSpPr/>
          <p:nvPr/>
        </p:nvSpPr>
        <p:spPr>
          <a:xfrm>
            <a:off x="6592824" y="4223200"/>
            <a:ext cx="4974336" cy="201168"/>
          </a:xfrm>
          <a:prstGeom prst="rect">
            <a:avLst/>
          </a:prstGeom>
          <a:noFill/>
          <a:ln/>
        </p:spPr>
        <p:txBody>
          <a:bodyPr wrap="square" rtlCol="0" anchor="ctr"/>
          <a:lstStyle/>
          <a:p>
            <a:pPr marL="0" indent="0">
              <a:buNone/>
            </a:pPr>
            <a:r>
              <a:rPr lang="en-US" sz="950" dirty="0">
                <a:solidFill>
                  <a:srgbClr val="1F2933"/>
                </a:solidFill>
                <a:latin typeface="Calibri" pitchFamily="34" charset="0"/>
                <a:ea typeface="Calibri" pitchFamily="34" charset="-122"/>
                <a:cs typeface="Calibri" pitchFamily="34" charset="-120"/>
              </a:rPr>
              <a:t>Less than 31 days — Amount In AED  Low</a:t>
            </a:r>
            <a:endParaRPr lang="en-US" sz="950" dirty="0"/>
          </a:p>
        </p:txBody>
      </p:sp>
      <p:sp>
        <p:nvSpPr>
          <p:cNvPr id="24" name="Shape 21"/>
          <p:cNvSpPr/>
          <p:nvPr/>
        </p:nvSpPr>
        <p:spPr>
          <a:xfrm>
            <a:off x="457200" y="4634680"/>
            <a:ext cx="3605784" cy="1234440"/>
          </a:xfrm>
          <a:prstGeom prst="rect">
            <a:avLst/>
          </a:prstGeom>
          <a:solidFill>
            <a:srgbClr val="FBF1DE"/>
          </a:solidFill>
          <a:ln w="9525">
            <a:solidFill>
              <a:srgbClr val="D9DEE4"/>
            </a:solidFill>
            <a:prstDash val="solid"/>
          </a:ln>
        </p:spPr>
        <p:txBody>
          <a:bodyPr/>
          <a:lstStyle/>
          <a:p>
            <a:endParaRPr lang="en-AE"/>
          </a:p>
        </p:txBody>
      </p:sp>
      <p:sp>
        <p:nvSpPr>
          <p:cNvPr id="25" name="Text 22"/>
          <p:cNvSpPr/>
          <p:nvPr/>
        </p:nvSpPr>
        <p:spPr>
          <a:xfrm>
            <a:off x="594360" y="4726120"/>
            <a:ext cx="3331464" cy="27432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NPS</a:t>
            </a:r>
            <a:endParaRPr lang="en-US" sz="1250" dirty="0"/>
          </a:p>
        </p:txBody>
      </p:sp>
      <p:sp>
        <p:nvSpPr>
          <p:cNvPr id="26" name="Shape 23"/>
          <p:cNvSpPr/>
          <p:nvPr/>
        </p:nvSpPr>
        <p:spPr>
          <a:xfrm>
            <a:off x="3697224" y="4753552"/>
            <a:ext cx="201168" cy="201168"/>
          </a:xfrm>
          <a:prstGeom prst="ellipse">
            <a:avLst/>
          </a:prstGeom>
          <a:solidFill>
            <a:srgbClr val="D98E1E"/>
          </a:solidFill>
          <a:ln/>
        </p:spPr>
        <p:txBody>
          <a:bodyPr/>
          <a:lstStyle/>
          <a:p>
            <a:endParaRPr lang="en-AE"/>
          </a:p>
        </p:txBody>
      </p:sp>
      <p:sp>
        <p:nvSpPr>
          <p:cNvPr id="27" name="Text 24"/>
          <p:cNvSpPr/>
          <p:nvPr/>
        </p:nvSpPr>
        <p:spPr>
          <a:xfrm>
            <a:off x="594360" y="5073592"/>
            <a:ext cx="3331464" cy="320040"/>
          </a:xfrm>
          <a:prstGeom prst="rect">
            <a:avLst/>
          </a:prstGeom>
          <a:noFill/>
          <a:ln/>
        </p:spPr>
        <p:txBody>
          <a:bodyPr wrap="square" rtlCol="0" anchor="ctr"/>
          <a:lstStyle/>
          <a:p>
            <a:r>
              <a:rPr lang="en-US" sz="1400" b="1" dirty="0">
                <a:solidFill>
                  <a:srgbClr val="D98E1E"/>
                </a:solidFill>
                <a:latin typeface="Calibri" pitchFamily="34" charset="0"/>
                <a:ea typeface="Calibri" pitchFamily="34" charset="-122"/>
                <a:cs typeface="Calibri" pitchFamily="34" charset="-120"/>
              </a:rPr>
              <a:t>13.5%  –  Amber</a:t>
            </a:r>
            <a:endParaRPr lang="en-US" sz="1400" dirty="0"/>
          </a:p>
        </p:txBody>
      </p:sp>
      <p:sp>
        <p:nvSpPr>
          <p:cNvPr id="28" name="Text 25"/>
          <p:cNvSpPr/>
          <p:nvPr/>
        </p:nvSpPr>
        <p:spPr>
          <a:xfrm>
            <a:off x="594360" y="5439352"/>
            <a:ext cx="3331464" cy="365760"/>
          </a:xfrm>
          <a:prstGeom prst="rect">
            <a:avLst/>
          </a:prstGeom>
          <a:noFill/>
          <a:ln/>
        </p:spPr>
        <p:txBody>
          <a:bodyPr wrap="square" rtlCol="0" anchor="ctr"/>
          <a:lstStyle/>
          <a:p>
            <a:pPr marL="0" indent="0">
              <a:buNone/>
            </a:pPr>
            <a:r>
              <a:rPr lang="en-US" sz="880" dirty="0">
                <a:solidFill>
                  <a:srgbClr val="5A6472"/>
                </a:solidFill>
                <a:latin typeface="Calibri" pitchFamily="34" charset="0"/>
                <a:ea typeface="Calibri" pitchFamily="34" charset="-122"/>
                <a:cs typeface="Calibri" pitchFamily="34" charset="-120"/>
              </a:rPr>
              <a:t>Over 60d: 0.50m  |  31–60d: 0.04m  |  &lt;31d: 3.17m  |  Total: 3.71m</a:t>
            </a:r>
            <a:endParaRPr lang="en-US" sz="880" dirty="0"/>
          </a:p>
        </p:txBody>
      </p:sp>
      <p:sp>
        <p:nvSpPr>
          <p:cNvPr id="29" name="Shape 26"/>
          <p:cNvSpPr/>
          <p:nvPr/>
        </p:nvSpPr>
        <p:spPr>
          <a:xfrm>
            <a:off x="4291584" y="4634680"/>
            <a:ext cx="3605784" cy="1234440"/>
          </a:xfrm>
          <a:prstGeom prst="rect">
            <a:avLst/>
          </a:prstGeom>
          <a:solidFill>
            <a:srgbClr val="FAE7E4"/>
          </a:solidFill>
          <a:ln w="9525">
            <a:solidFill>
              <a:srgbClr val="D9DEE4"/>
            </a:solidFill>
            <a:prstDash val="solid"/>
          </a:ln>
        </p:spPr>
        <p:txBody>
          <a:bodyPr/>
          <a:lstStyle/>
          <a:p>
            <a:endParaRPr lang="en-AE"/>
          </a:p>
        </p:txBody>
      </p:sp>
      <p:sp>
        <p:nvSpPr>
          <p:cNvPr id="30" name="Text 27"/>
          <p:cNvSpPr/>
          <p:nvPr/>
        </p:nvSpPr>
        <p:spPr>
          <a:xfrm>
            <a:off x="4428744" y="4726120"/>
            <a:ext cx="3331464" cy="27432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NPM</a:t>
            </a:r>
            <a:endParaRPr lang="en-US" sz="1250" dirty="0"/>
          </a:p>
        </p:txBody>
      </p:sp>
      <p:sp>
        <p:nvSpPr>
          <p:cNvPr id="31" name="Shape 28"/>
          <p:cNvSpPr/>
          <p:nvPr/>
        </p:nvSpPr>
        <p:spPr>
          <a:xfrm>
            <a:off x="7531608" y="4753552"/>
            <a:ext cx="201168" cy="201168"/>
          </a:xfrm>
          <a:prstGeom prst="ellipse">
            <a:avLst/>
          </a:prstGeom>
          <a:solidFill>
            <a:srgbClr val="C0392B"/>
          </a:solidFill>
          <a:ln/>
        </p:spPr>
        <p:txBody>
          <a:bodyPr/>
          <a:lstStyle/>
          <a:p>
            <a:endParaRPr lang="en-AE"/>
          </a:p>
        </p:txBody>
      </p:sp>
      <p:sp>
        <p:nvSpPr>
          <p:cNvPr id="32" name="Text 29"/>
          <p:cNvSpPr/>
          <p:nvPr/>
        </p:nvSpPr>
        <p:spPr>
          <a:xfrm>
            <a:off x="4428744" y="5073592"/>
            <a:ext cx="3331464" cy="320040"/>
          </a:xfrm>
          <a:prstGeom prst="rect">
            <a:avLst/>
          </a:prstGeom>
          <a:noFill/>
          <a:ln/>
        </p:spPr>
        <p:txBody>
          <a:bodyPr wrap="square"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30.3%  –  Red</a:t>
            </a:r>
            <a:endParaRPr lang="en-US" sz="1400" dirty="0"/>
          </a:p>
        </p:txBody>
      </p:sp>
      <p:sp>
        <p:nvSpPr>
          <p:cNvPr id="33" name="Text 30"/>
          <p:cNvSpPr/>
          <p:nvPr/>
        </p:nvSpPr>
        <p:spPr>
          <a:xfrm>
            <a:off x="4428744" y="5439352"/>
            <a:ext cx="3331464" cy="365760"/>
          </a:xfrm>
          <a:prstGeom prst="rect">
            <a:avLst/>
          </a:prstGeom>
          <a:noFill/>
          <a:ln/>
        </p:spPr>
        <p:txBody>
          <a:bodyPr wrap="square" rtlCol="0" anchor="ctr"/>
          <a:lstStyle/>
          <a:p>
            <a:pPr marL="0" indent="0">
              <a:buNone/>
            </a:pPr>
            <a:r>
              <a:rPr lang="en-US" sz="880" dirty="0">
                <a:solidFill>
                  <a:srgbClr val="5A6472"/>
                </a:solidFill>
                <a:latin typeface="Calibri" pitchFamily="34" charset="0"/>
                <a:ea typeface="Calibri" pitchFamily="34" charset="-122"/>
                <a:cs typeface="Calibri" pitchFamily="34" charset="-120"/>
              </a:rPr>
              <a:t>Over 60d: 3.23m  |  31–60d: 0.19m  |  &lt;31d: 7.25m  |  Total: 10.67m</a:t>
            </a:r>
            <a:endParaRPr lang="en-US" sz="880" dirty="0"/>
          </a:p>
        </p:txBody>
      </p:sp>
      <p:sp>
        <p:nvSpPr>
          <p:cNvPr id="34" name="Shape 31"/>
          <p:cNvSpPr/>
          <p:nvPr/>
        </p:nvSpPr>
        <p:spPr>
          <a:xfrm>
            <a:off x="8125968" y="4634680"/>
            <a:ext cx="3605784" cy="1234440"/>
          </a:xfrm>
          <a:prstGeom prst="rect">
            <a:avLst/>
          </a:prstGeom>
          <a:solidFill>
            <a:srgbClr val="FAE7E4"/>
          </a:solidFill>
          <a:ln w="9525">
            <a:solidFill>
              <a:srgbClr val="D9DEE4"/>
            </a:solidFill>
            <a:prstDash val="solid"/>
          </a:ln>
        </p:spPr>
        <p:txBody>
          <a:bodyPr/>
          <a:lstStyle/>
          <a:p>
            <a:endParaRPr lang="en-AE"/>
          </a:p>
        </p:txBody>
      </p:sp>
      <p:sp>
        <p:nvSpPr>
          <p:cNvPr id="35" name="Text 32"/>
          <p:cNvSpPr/>
          <p:nvPr/>
        </p:nvSpPr>
        <p:spPr>
          <a:xfrm>
            <a:off x="8263128" y="4726120"/>
            <a:ext cx="3331464" cy="27432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Group Total</a:t>
            </a:r>
            <a:endParaRPr lang="en-US" sz="1250" dirty="0"/>
          </a:p>
        </p:txBody>
      </p:sp>
      <p:sp>
        <p:nvSpPr>
          <p:cNvPr id="36" name="Shape 33"/>
          <p:cNvSpPr/>
          <p:nvPr/>
        </p:nvSpPr>
        <p:spPr>
          <a:xfrm>
            <a:off x="11365992" y="4753552"/>
            <a:ext cx="201168" cy="201168"/>
          </a:xfrm>
          <a:prstGeom prst="ellipse">
            <a:avLst/>
          </a:prstGeom>
          <a:solidFill>
            <a:srgbClr val="C0392B"/>
          </a:solidFill>
          <a:ln/>
        </p:spPr>
        <p:txBody>
          <a:bodyPr/>
          <a:lstStyle/>
          <a:p>
            <a:endParaRPr lang="en-AE"/>
          </a:p>
        </p:txBody>
      </p:sp>
      <p:sp>
        <p:nvSpPr>
          <p:cNvPr id="37" name="Text 34"/>
          <p:cNvSpPr/>
          <p:nvPr/>
        </p:nvSpPr>
        <p:spPr>
          <a:xfrm>
            <a:off x="8263128" y="5073592"/>
            <a:ext cx="3331464" cy="320040"/>
          </a:xfrm>
          <a:prstGeom prst="rect">
            <a:avLst/>
          </a:prstGeom>
          <a:noFill/>
          <a:ln/>
        </p:spPr>
        <p:txBody>
          <a:bodyPr wrap="square" rtlCol="0" anchor="ctr"/>
          <a:lstStyle/>
          <a:p>
            <a:r>
              <a:rPr lang="en-US" sz="1400" b="1" dirty="0">
                <a:solidFill>
                  <a:srgbClr val="C0392B"/>
                </a:solidFill>
                <a:latin typeface="Calibri" pitchFamily="34" charset="0"/>
                <a:ea typeface="Calibri" pitchFamily="34" charset="-122"/>
                <a:cs typeface="Calibri" pitchFamily="34" charset="-120"/>
              </a:rPr>
              <a:t>25.9%  –  Red</a:t>
            </a:r>
            <a:endParaRPr lang="en-US" sz="1400" dirty="0"/>
          </a:p>
        </p:txBody>
      </p:sp>
      <p:sp>
        <p:nvSpPr>
          <p:cNvPr id="38" name="Text 35"/>
          <p:cNvSpPr/>
          <p:nvPr/>
        </p:nvSpPr>
        <p:spPr>
          <a:xfrm>
            <a:off x="8263128" y="5439352"/>
            <a:ext cx="3331464" cy="365760"/>
          </a:xfrm>
          <a:prstGeom prst="rect">
            <a:avLst/>
          </a:prstGeom>
          <a:noFill/>
          <a:ln/>
        </p:spPr>
        <p:txBody>
          <a:bodyPr wrap="square" rtlCol="0" anchor="ctr"/>
          <a:lstStyle/>
          <a:p>
            <a:pPr marL="0" indent="0">
              <a:buNone/>
            </a:pPr>
            <a:r>
              <a:rPr lang="en-US" sz="880" dirty="0">
                <a:solidFill>
                  <a:srgbClr val="5A6472"/>
                </a:solidFill>
                <a:latin typeface="Calibri" pitchFamily="34" charset="0"/>
                <a:ea typeface="Calibri" pitchFamily="34" charset="-122"/>
                <a:cs typeface="Calibri" pitchFamily="34" charset="-120"/>
              </a:rPr>
              <a:t>Over 60d: 3.73m  |  31–60d: 0.23m  |  &lt;31d: 10.41m  |  Total: 14.38m</a:t>
            </a:r>
            <a:endParaRPr lang="en-US" sz="880" dirty="0"/>
          </a:p>
        </p:txBody>
      </p:sp>
      <p:sp>
        <p:nvSpPr>
          <p:cNvPr id="39" name="Text 36"/>
          <p:cNvSpPr/>
          <p:nvPr/>
        </p:nvSpPr>
        <p:spPr>
          <a:xfrm>
            <a:off x="457200" y="5923984"/>
            <a:ext cx="11274552" cy="380000"/>
          </a:xfrm>
          <a:prstGeom prst="rect">
            <a:avLst/>
          </a:prstGeom>
          <a:noFill/>
          <a:ln/>
        </p:spPr>
        <p:txBody>
          <a:bodyPr wrap="square" rtlCol="0" anchor="ctr"/>
          <a:lstStyle/>
          <a:p>
            <a:pPr marL="0" indent="0">
              <a:buNone/>
            </a:pPr>
            <a:r>
              <a:rPr lang="en-US" sz="850" i="1" dirty="0">
                <a:solidFill>
                  <a:srgbClr val="5A6472"/>
                </a:solidFill>
                <a:latin typeface="Calibri" pitchFamily="34" charset="0"/>
                <a:ea typeface="Calibri" pitchFamily="34" charset="-122"/>
                <a:cs typeface="Calibri" pitchFamily="34" charset="-120"/>
              </a:rPr>
              <a:t>Overdue ratio and aging cover intercompany receivables only (subsidiaries, holding company, Engineering Office), net of collections to 16 Oct 2026. Reason, Responsible, Action and Expected Date to be completed in the meeting.</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494</Words>
  <Application>Microsoft Office PowerPoint</Application>
  <PresentationFormat>Widescreen</PresentationFormat>
  <Paragraphs>145</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ASAN</dc:creator>
  <cp:lastModifiedBy>Mohamed Khairy Mohamed</cp:lastModifiedBy>
  <cp:revision>15</cp:revision>
  <dcterms:created xsi:type="dcterms:W3CDTF">2026-09-10T09:41:40Z</dcterms:created>
  <dcterms:modified xsi:type="dcterms:W3CDTF">2026-10-20T03:59:21Z</dcterms:modified>
</cp:coreProperties>
</file>