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38477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/>
          <a:lstStyle/>
          <a:p>
            <a:endParaRPr lang="en-AE" dirty="0"/>
          </a:p>
        </p:txBody>
      </p:sp>
      <p:sp>
        <p:nvSpPr>
          <p:cNvPr id="3" name="Shape 1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E6F1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RECEIVABLES COLLECTION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of Receivables Due to</a:t>
            </a:r>
            <a:endParaRPr lang="en-US" sz="3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Subsidiaries (NPS &amp; NPM) from External Parties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3703320"/>
            <a:ext cx="1280160" cy="0"/>
          </a:xfrm>
          <a:prstGeom prst="line">
            <a:avLst/>
          </a:prstGeom>
          <a:noFill/>
          <a:ln w="38100">
            <a:solidFill>
              <a:srgbClr val="0F6E6E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Text 5"/>
          <p:cNvSpPr/>
          <p:nvPr/>
        </p:nvSpPr>
        <p:spPr>
          <a:xfrm>
            <a:off x="822959" y="3977640"/>
            <a:ext cx="1108086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collection of outstanding receivables due to the subsidiaries from external parties will be monitored through a structured, five-part approach 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822960" y="5349240"/>
            <a:ext cx="1977481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>
            <a:solidFill>
              <a:srgbClr val="2C3E5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" name="Text 7"/>
          <p:cNvSpPr/>
          <p:nvPr/>
        </p:nvSpPr>
        <p:spPr>
          <a:xfrm>
            <a:off x="932688" y="5458968"/>
            <a:ext cx="175802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F1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2688" y="5806440"/>
            <a:ext cx="175802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Dashboard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965033" y="5349240"/>
            <a:ext cx="1977481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>
            <a:solidFill>
              <a:srgbClr val="2C3E5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Text 10"/>
          <p:cNvSpPr/>
          <p:nvPr/>
        </p:nvSpPr>
        <p:spPr>
          <a:xfrm>
            <a:off x="3074761" y="5458968"/>
            <a:ext cx="175802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F1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074761" y="5806440"/>
            <a:ext cx="175802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External Receivables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07107" y="5349240"/>
            <a:ext cx="1977481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>
            <a:solidFill>
              <a:srgbClr val="2C3E5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Text 13"/>
          <p:cNvSpPr/>
          <p:nvPr/>
        </p:nvSpPr>
        <p:spPr>
          <a:xfrm>
            <a:off x="5216835" y="5458968"/>
            <a:ext cx="175802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F1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16835" y="5806440"/>
            <a:ext cx="175802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Performance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249180" y="5349240"/>
            <a:ext cx="1977481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>
            <a:solidFill>
              <a:srgbClr val="2C3E5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8" name="Text 16"/>
          <p:cNvSpPr/>
          <p:nvPr/>
        </p:nvSpPr>
        <p:spPr>
          <a:xfrm>
            <a:off x="7358908" y="5458968"/>
            <a:ext cx="175802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F1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58908" y="5806440"/>
            <a:ext cx="175802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Overdue Customers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391254" y="5349240"/>
            <a:ext cx="1977481" cy="1143000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>
            <a:solidFill>
              <a:srgbClr val="2C3E5C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1" name="Text 19"/>
          <p:cNvSpPr/>
          <p:nvPr/>
        </p:nvSpPr>
        <p:spPr>
          <a:xfrm>
            <a:off x="9500982" y="5458968"/>
            <a:ext cx="175802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F1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500982" y="5806440"/>
            <a:ext cx="175802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Light Report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chemeClr val="bg1">
              <a:lumMod val="65000"/>
            </a:scheme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Dashboard &amp; Performance Measurement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424160" y="0"/>
            <a:ext cx="132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E6F1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– 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112745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 </a:t>
            </a: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monthly Dashboard, consolidated from each subsidiary’s brief report, presented at the holding company’s periodic meeting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3594512"/>
              </p:ext>
            </p:extLst>
          </p:nvPr>
        </p:nvGraphicFramePr>
        <p:xfrm>
          <a:off x="457199" y="1417320"/>
          <a:ext cx="11274552" cy="1949958"/>
        </p:xfrm>
        <a:graphic>
          <a:graphicData uri="http://schemas.openxmlformats.org/drawingml/2006/table">
            <a:tbl>
              <a:tblPr/>
              <a:tblGrid>
                <a:gridCol w="11476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3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64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0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36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18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6363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6363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07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9618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9618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543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Subsidiary</a:t>
                      </a:r>
                      <a:endParaRPr lang="en-US" sz="86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Due for</a:t>
                      </a:r>
                      <a:endParaRPr lang="en-US" sz="860" dirty="0"/>
                    </a:p>
                    <a:p>
                      <a:pPr marL="0" marR="0" indent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Collection during Sep (A</a:t>
                      </a:r>
                      <a:r>
                        <a:rPr lang="en-AE" sz="86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mounts outstanding up to Aug 2026)</a:t>
                      </a:r>
                      <a:endParaRPr lang="en-US" sz="86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ctr" defTabSz="914400" rtl="0" eaLnBrk="1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6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AED</a:t>
                      </a:r>
                    </a:p>
                    <a:p>
                      <a:pPr marL="0" indent="0" algn="ctr">
                        <a:buNone/>
                      </a:pPr>
                      <a:endParaRPr lang="en-US" sz="86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Amount Collected</a:t>
                      </a:r>
                      <a:endParaRPr lang="en-US" sz="860" dirty="0"/>
                    </a:p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in Sep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AED</a:t>
                      </a:r>
                      <a:endParaRPr lang="en-US" sz="86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860" dirty="0"/>
                    </a:p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Outstanding as of 30 Sep 2026</a:t>
                      </a:r>
                      <a:endParaRPr lang="en-US" sz="86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0–30 days</a:t>
                      </a:r>
                      <a:endParaRPr lang="en-US" sz="860" dirty="0"/>
                    </a:p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No risk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AED</a:t>
                      </a:r>
                      <a:endParaRPr lang="en-US" sz="86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31–60 days</a:t>
                      </a:r>
                      <a:endParaRPr lang="en-US" sz="860" dirty="0"/>
                    </a:p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Moderate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AED</a:t>
                      </a:r>
                      <a:endParaRPr lang="en-US" sz="86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61–90 days</a:t>
                      </a:r>
                      <a:endParaRPr lang="en-US" sz="860" dirty="0"/>
                    </a:p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High risk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AED</a:t>
                      </a:r>
                      <a:endParaRPr lang="en-US" sz="86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+91 days</a:t>
                      </a:r>
                      <a:endParaRPr lang="en-US" sz="860" dirty="0"/>
                    </a:p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Very high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AED</a:t>
                      </a:r>
                      <a:endParaRPr lang="en-US" sz="86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Overdue amounts as of 30 Sep 2026</a:t>
                      </a:r>
                      <a:endParaRPr lang="en-US" sz="860" dirty="0"/>
                    </a:p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(61+ days)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AED</a:t>
                      </a:r>
                      <a:endParaRPr lang="en-US" sz="86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Collection</a:t>
                      </a:r>
                      <a:endParaRPr lang="en-US" sz="860" dirty="0"/>
                    </a:p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Rate</a:t>
                      </a:r>
                      <a:endParaRPr lang="en-US" sz="86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Overdue</a:t>
                      </a:r>
                      <a:endParaRPr lang="en-US" sz="860" dirty="0"/>
                    </a:p>
                    <a:p>
                      <a:pPr marL="0" indent="0" algn="ctr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</a:rPr>
                        <a:t>Rate</a:t>
                      </a:r>
                      <a:endParaRPr lang="en-US" sz="86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</a:rPr>
                        <a:t>NPS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1.30m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0.78m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0.93m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0.74m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–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0.19m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–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0.19m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60%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</a:rPr>
                        <a:t>NPM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–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–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–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–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–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–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–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–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B2A4A"/>
                          </a:solidFill>
                        </a:rPr>
                        <a:t>Total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4A"/>
                          </a:solidFill>
                        </a:rPr>
                        <a:t>1.30m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4A"/>
                          </a:solidFill>
                        </a:rPr>
                        <a:t>0.78m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4A"/>
                          </a:solidFill>
                        </a:rPr>
                        <a:t>0.93m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4A"/>
                          </a:solidFill>
                        </a:rPr>
                        <a:t>0.74m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4A"/>
                          </a:solidFill>
                        </a:rPr>
                        <a:t>–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4A"/>
                          </a:solidFill>
                        </a:rPr>
                        <a:t>0.19m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4A"/>
                          </a:solidFill>
                        </a:rPr>
                        <a:t>–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4A"/>
                          </a:solidFill>
                        </a:rPr>
                        <a:t>0.19m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4A"/>
                          </a:solidFill>
                        </a:rPr>
                        <a:t>60%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B2A4A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672564"/>
            <a:ext cx="11274552" cy="457200"/>
          </a:xfrm>
          <a:prstGeom prst="rect">
            <a:avLst/>
          </a:prstGeom>
          <a:solidFill>
            <a:srgbClr val="F4F6F8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" name="Text 5"/>
          <p:cNvSpPr/>
          <p:nvPr/>
        </p:nvSpPr>
        <p:spPr>
          <a:xfrm>
            <a:off x="640080" y="3672564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Second:  </a:t>
            </a: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Receivables due from external parties are reported separately from amounts due from subsidiaries, the holding company, and the Engineering Office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152208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Third:  </a:t>
            </a: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Company Performance — Three KPIs are set for each company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7200" y="4517968"/>
            <a:ext cx="3605784" cy="1417320"/>
          </a:xfrm>
          <a:prstGeom prst="rect">
            <a:avLst/>
          </a:prstGeom>
          <a:solidFill>
            <a:srgbClr val="E6F1F1"/>
          </a:solidFill>
          <a:ln w="9525">
            <a:solidFill>
              <a:srgbClr val="D9DEE4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" name="Text 8"/>
          <p:cNvSpPr/>
          <p:nvPr/>
        </p:nvSpPr>
        <p:spPr>
          <a:xfrm>
            <a:off x="594360" y="4645984"/>
            <a:ext cx="33314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Rate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94360" y="4975168"/>
            <a:ext cx="3331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Amounts collected this month ÷ amounts due for collection till end of previous month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94360" y="5587816"/>
            <a:ext cx="3331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i="1" dirty="0">
                <a:solidFill>
                  <a:srgbClr val="0F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NPS: 0.8 / 1.3 = 60%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291584" y="4517968"/>
            <a:ext cx="3605784" cy="1417320"/>
          </a:xfrm>
          <a:prstGeom prst="rect">
            <a:avLst/>
          </a:prstGeom>
          <a:solidFill>
            <a:srgbClr val="E6F1F1"/>
          </a:solidFill>
          <a:ln w="9525">
            <a:solidFill>
              <a:srgbClr val="D9DEE4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Text 12"/>
          <p:cNvSpPr/>
          <p:nvPr/>
        </p:nvSpPr>
        <p:spPr>
          <a:xfrm>
            <a:off x="4428744" y="4645984"/>
            <a:ext cx="33314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Ratio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428744" y="4975168"/>
            <a:ext cx="33314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receivables (over 60 days) ÷ total receivables of the company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4428744" y="5587816"/>
            <a:ext cx="3331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i="1" dirty="0">
                <a:solidFill>
                  <a:srgbClr val="0F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NPS: 0.2 / 0.9 = 20%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125968" y="4517968"/>
            <a:ext cx="3605784" cy="1417320"/>
          </a:xfrm>
          <a:prstGeom prst="rect">
            <a:avLst/>
          </a:prstGeom>
          <a:solidFill>
            <a:srgbClr val="FAE7E4"/>
          </a:solidFill>
          <a:ln w="9525">
            <a:solidFill>
              <a:srgbClr val="D9DEE4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9" name="Shape 16"/>
          <p:cNvSpPr/>
          <p:nvPr/>
        </p:nvSpPr>
        <p:spPr>
          <a:xfrm>
            <a:off x="8263128" y="4682560"/>
            <a:ext cx="201168" cy="201168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0" name="Text 17"/>
          <p:cNvSpPr/>
          <p:nvPr/>
        </p:nvSpPr>
        <p:spPr>
          <a:xfrm>
            <a:off x="8564880" y="4645984"/>
            <a:ext cx="30297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High Risk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263128" y="4975168"/>
            <a:ext cx="333146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Debts outstanding over 91 days indicate a very high risk of non-collection and require immediate escalation.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  <a:spcBef>
                <a:spcPts val="600"/>
              </a:spcBef>
            </a:pPr>
            <a:r>
              <a:rPr lang="en-US" sz="950" dirty="0" b="1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+91 days: 3.5m (clients + intercompany)</a:t>
            </a:r>
            <a:endParaRPr lang="en-US" sz="950" dirty="0"/>
          </a:p>
        </p:txBody>
      </p:sp>
      <p:sp>
        <p:nvSpPr>
          <p:cNvPr id="22" name="Table note"/>
          <p:cNvSpPr txBox="1"/>
          <p:nvPr/>
        </p:nvSpPr>
        <p:spPr>
          <a:xfrm>
            <a:off x="457200" y="3395000"/>
            <a:ext cx="11274552" cy="2500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i="1">
                <a:solidFill>
                  <a:srgbClr val="5A6472"/>
                </a:solidFill>
                <a:latin typeface="Calibri"/>
              </a:rPr>
              <a:t>External clients only (NPM has none – all intercompany). Outstanding and overdue are net of AED 36k collected 1–16 Oct; collection rate uses September collections only. Amounts in AED.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Overdue Customers &amp; Risk Monitoring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424160" y="0"/>
            <a:ext cx="132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E6F1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– 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Fourth:  </a:t>
            </a: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Overdue Customers for each company — covering at least 80% of total outstanding receivables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4897496"/>
              </p:ext>
            </p:extLst>
          </p:nvPr>
        </p:nvGraphicFramePr>
        <p:xfrm>
          <a:off x="457200" y="1371600"/>
          <a:ext cx="11274552" cy="1960000"/>
        </p:xfrm>
        <a:graphic>
          <a:graphicData uri="http://schemas.openxmlformats.org/drawingml/2006/table">
            <a:tbl>
              <a:tblPr/>
              <a:tblGrid>
                <a:gridCol w="3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45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Client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Amount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Duration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Reason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Responsible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Action to be Taken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Expected</a:t>
                      </a:r>
                      <a:endParaRPr lang="en-US" sz="950" dirty="0"/>
                    </a:p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Collection Date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</a:rPr>
                        <a:t>NPS – Tal Al Wathba Transport and General Contracting L.L.C - S.P.C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2.83m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0 days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TBD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TBD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</a:rPr>
                        <a:t>To be determined in the meeting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TBD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</a:rPr>
                        <a:t>NPS – Seattle International Services – L.L.C – S.P.C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0.47m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61 days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TBD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TBD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</a:rPr>
                        <a:t>To be determined in the meeting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TBD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</a:rPr>
                        <a:t>NPS – SML Abu Dhabi Engineering &amp; Contracting - L.L.C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0.30m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30 days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TBD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TBD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</a:rPr>
                        <a:t>To be determined in the meeting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TBD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</a:rPr>
                        <a:t>NPS – Due from EOM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0.28m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273 days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TBD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TBD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</a:rPr>
                        <a:t>To be determined in the meeting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TBD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</a:rPr>
                        <a:t>NPM – H.H. Sheikh Mansour Bin Zayed Al Nahyan Engineering Office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7.28m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60 days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TBD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TBD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</a:rPr>
                        <a:t>To be determined in the meeting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TBD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</a:rPr>
                        <a:t>NPM – E11 Eng Conslt And Project Mgt - N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1.74m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273 days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TBD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TBD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</a:rPr>
                        <a:t>To be determined in the meeting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</a:rPr>
                        <a:t>TBD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6202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Fifth:  </a:t>
            </a: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Traffic Light Dashboard — one-page view by overdue ratio and by aging Receivables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4031680"/>
            <a:ext cx="5522976" cy="960120"/>
          </a:xfrm>
          <a:prstGeom prst="rect">
            <a:avLst/>
          </a:prstGeom>
          <a:solidFill>
            <a:srgbClr val="F4F6F8"/>
          </a:solidFill>
          <a:ln w="9525">
            <a:solidFill>
              <a:srgbClr val="D9DEE4"/>
            </a:solidFill>
            <a:prstDash val="solid"/>
          </a:ln>
        </p:spPr>
        <p:txBody>
          <a:bodyPr/>
          <a:lstStyle/>
          <a:p>
            <a:endParaRPr lang="en-AE" dirty="0"/>
          </a:p>
        </p:txBody>
      </p:sp>
      <p:sp>
        <p:nvSpPr>
          <p:cNvPr id="9" name="Text 6"/>
          <p:cNvSpPr/>
          <p:nvPr/>
        </p:nvSpPr>
        <p:spPr>
          <a:xfrm>
            <a:off x="594360" y="4104832"/>
            <a:ext cx="52486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Ratio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" y="4415728"/>
            <a:ext cx="128016" cy="128016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1" name="Text 8"/>
          <p:cNvSpPr/>
          <p:nvPr/>
        </p:nvSpPr>
        <p:spPr>
          <a:xfrm>
            <a:off x="841248" y="4370008"/>
            <a:ext cx="4974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Exceeding 15%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1792" y="4612324"/>
            <a:ext cx="128016" cy="128016"/>
          </a:xfrm>
          <a:prstGeom prst="ellipse">
            <a:avLst/>
          </a:prstGeom>
          <a:solidFill>
            <a:srgbClr val="D98E1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3" name="Text 10"/>
          <p:cNvSpPr/>
          <p:nvPr/>
        </p:nvSpPr>
        <p:spPr>
          <a:xfrm>
            <a:off x="841248" y="4566604"/>
            <a:ext cx="4974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6% and 15%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21792" y="4808920"/>
            <a:ext cx="128016" cy="128016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5" name="Text 12"/>
          <p:cNvSpPr/>
          <p:nvPr/>
        </p:nvSpPr>
        <p:spPr>
          <a:xfrm>
            <a:off x="841248" y="4763200"/>
            <a:ext cx="4974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exceeding 5%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08776" y="4031680"/>
            <a:ext cx="5522976" cy="960120"/>
          </a:xfrm>
          <a:prstGeom prst="rect">
            <a:avLst/>
          </a:prstGeom>
          <a:solidFill>
            <a:srgbClr val="F4F6F8"/>
          </a:solidFill>
          <a:ln w="9525">
            <a:solidFill>
              <a:srgbClr val="D9DEE4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7" name="Text 14"/>
          <p:cNvSpPr/>
          <p:nvPr/>
        </p:nvSpPr>
        <p:spPr>
          <a:xfrm>
            <a:off x="6345936" y="4104832"/>
            <a:ext cx="52486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Receivables Aging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373368" y="4415728"/>
            <a:ext cx="128016" cy="128016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9" name="Text 16"/>
          <p:cNvSpPr/>
          <p:nvPr/>
        </p:nvSpPr>
        <p:spPr>
          <a:xfrm>
            <a:off x="6592824" y="4370008"/>
            <a:ext cx="4974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60 days — Amount In AED          Critical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373368" y="4612324"/>
            <a:ext cx="128016" cy="128016"/>
          </a:xfrm>
          <a:prstGeom prst="ellipse">
            <a:avLst/>
          </a:prstGeom>
          <a:solidFill>
            <a:srgbClr val="D98E1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1" name="Text 18"/>
          <p:cNvSpPr/>
          <p:nvPr/>
        </p:nvSpPr>
        <p:spPr>
          <a:xfrm>
            <a:off x="6592824" y="4566604"/>
            <a:ext cx="4974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 —  Amount  In AED           Moderate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73368" y="4808920"/>
            <a:ext cx="128016" cy="128016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3" name="Text 20"/>
          <p:cNvSpPr/>
          <p:nvPr/>
        </p:nvSpPr>
        <p:spPr>
          <a:xfrm>
            <a:off x="6592824" y="4763200"/>
            <a:ext cx="4974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than 31 days — Amount In AED  Low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57200" y="5174680"/>
            <a:ext cx="3605784" cy="1234440"/>
          </a:xfrm>
          <a:prstGeom prst="rect">
            <a:avLst/>
          </a:prstGeom>
          <a:solidFill>
            <a:srgbClr val="FBF1DE"/>
          </a:solidFill>
          <a:ln w="9525">
            <a:solidFill>
              <a:srgbClr val="D9DEE4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5" name="Text 22"/>
          <p:cNvSpPr/>
          <p:nvPr/>
        </p:nvSpPr>
        <p:spPr>
          <a:xfrm>
            <a:off x="594360" y="5266120"/>
            <a:ext cx="3331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3697224" y="5293552"/>
            <a:ext cx="201168" cy="201168"/>
          </a:xfrm>
          <a:prstGeom prst="ellipse">
            <a:avLst/>
          </a:prstGeom>
          <a:solidFill>
            <a:srgbClr val="D98E1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7" name="Text 24"/>
          <p:cNvSpPr/>
          <p:nvPr/>
        </p:nvSpPr>
        <p:spPr>
          <a:xfrm>
            <a:off x="594360" y="5613592"/>
            <a:ext cx="3331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D98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14.8%  –  Amber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94360" y="5979352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60d: 0.69m  |  31–60d: 0.04m  |  &lt;31d: 3.91m  |  Total: 4.64m</a:t>
            </a:r>
            <a:endParaRPr lang="en-US" sz="880" dirty="0"/>
          </a:p>
        </p:txBody>
      </p:sp>
      <p:sp>
        <p:nvSpPr>
          <p:cNvPr id="29" name="Shape 26"/>
          <p:cNvSpPr/>
          <p:nvPr/>
        </p:nvSpPr>
        <p:spPr>
          <a:xfrm>
            <a:off x="4291584" y="5174680"/>
            <a:ext cx="3605784" cy="1234440"/>
          </a:xfrm>
          <a:prstGeom prst="rect">
            <a:avLst/>
          </a:prstGeom>
          <a:solidFill>
            <a:srgbClr val="FAE7E4"/>
          </a:solidFill>
          <a:ln w="9525">
            <a:solidFill>
              <a:srgbClr val="D9DEE4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0" name="Text 27"/>
          <p:cNvSpPr/>
          <p:nvPr/>
        </p:nvSpPr>
        <p:spPr>
          <a:xfrm>
            <a:off x="4428744" y="5266120"/>
            <a:ext cx="3331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7531608" y="5293552"/>
            <a:ext cx="201168" cy="201168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2" name="Text 29"/>
          <p:cNvSpPr/>
          <p:nvPr/>
        </p:nvSpPr>
        <p:spPr>
          <a:xfrm>
            <a:off x="4428744" y="5613592"/>
            <a:ext cx="3331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30.3%  –  Red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4428744" y="5979352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60d: 3.23m  |  31–60d: 0.19m  |  &lt;31d: 7.25m  |  Total: 10.67m</a:t>
            </a:r>
            <a:endParaRPr lang="en-US" sz="880" dirty="0"/>
          </a:p>
        </p:txBody>
      </p:sp>
      <p:sp>
        <p:nvSpPr>
          <p:cNvPr id="34" name="Shape 31"/>
          <p:cNvSpPr/>
          <p:nvPr/>
        </p:nvSpPr>
        <p:spPr>
          <a:xfrm>
            <a:off x="8125968" y="5174680"/>
            <a:ext cx="3605784" cy="1234440"/>
          </a:xfrm>
          <a:prstGeom prst="rect">
            <a:avLst/>
          </a:prstGeom>
          <a:solidFill>
            <a:srgbClr val="FAE7E4"/>
          </a:solidFill>
          <a:ln w="9525">
            <a:solidFill>
              <a:srgbClr val="D9DEE4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5" name="Text 32"/>
          <p:cNvSpPr/>
          <p:nvPr/>
        </p:nvSpPr>
        <p:spPr>
          <a:xfrm>
            <a:off x="8263128" y="5266120"/>
            <a:ext cx="3331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11365992" y="5293552"/>
            <a:ext cx="201168" cy="201168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7" name="Text 34"/>
          <p:cNvSpPr/>
          <p:nvPr/>
        </p:nvSpPr>
        <p:spPr>
          <a:xfrm>
            <a:off x="8263128" y="5613592"/>
            <a:ext cx="33314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25.6%  –  Red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8263128" y="5979352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60d: 3.92m  |  31–60d: 0.23m  |  &lt;31d: 11.16m  |  Total: 15.31m</a:t>
            </a:r>
            <a:endParaRPr lang="en-US" sz="880" dirty="0"/>
          </a:p>
        </p:txBody>
      </p:sp>
      <p:sp>
        <p:nvSpPr>
          <p:cNvPr id="39" name="Text 36"/>
          <p:cNvSpPr/>
          <p:nvPr/>
        </p:nvSpPr>
        <p:spPr>
          <a:xfrm>
            <a:off x="457200" y="6463984"/>
            <a:ext cx="11274552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ratio and aging cover all receivables (clients + intercompany), net of collections to 16 Oct 2026. Reason, Responsible, Action and Expected Date to be completed in the meeting.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494</Words>
  <Application>Microsoft Office PowerPoint</Application>
  <PresentationFormat>Widescreen</PresentationFormat>
  <Paragraphs>145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ASAN</dc:creator>
  <cp:lastModifiedBy>Mohamed Khairy Mohamed</cp:lastModifiedBy>
  <cp:revision>15</cp:revision>
  <dcterms:created xsi:type="dcterms:W3CDTF">2026-09-10T09:41:40Z</dcterms:created>
  <dcterms:modified xsi:type="dcterms:W3CDTF">2026-10-20T03:59:21Z</dcterms:modified>
</cp:coreProperties>
</file>